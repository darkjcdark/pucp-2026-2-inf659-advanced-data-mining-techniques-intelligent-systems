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amen" id="{efd9cd72-5107-9847-4025-96832c286cc3}">
          <p14:sldIdLst>
            <p14:sldId id="256"/>
            <p14:sldId id="257"/>
            <p14:sldId id="258"/>
            <p14:sldId id="259"/>
            <p14:sldId id="260"/>
            <p14:sldId id="261"/>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3A"/>
                </a:solidFill>
                <a:latin typeface="+mn-lt"/>
              </a:defRPr>
            </a:pPr>
            <a:r>
              <a:rPr sz="1300" b="0" i="0" u="none" strike="noStrike">
                <a:solidFill>
                  <a:srgbClr val="1B2A3A"/>
                </a:solidFill>
                <a:latin typeface="+mn-lt"/>
              </a:rPr>
              <a:t>Exactitud (n = 30)</a:t>
            </a:r>
          </a:p>
        </c:rich>
      </c:tx>
      <c:layout/>
      <c:overlay val="0"/>
    </c:title>
    <c:autoTitleDeleted val="0"/>
    <c:plotArea>
      <c:layout/>
      <c:barChart>
        <c:barDir val="col"/>
        <c:grouping val="clustered"/>
        <c:varyColors val="0"/>
        <c:ser>
          <c:idx val="0"/>
          <c:order val="0"/>
          <c:tx>
            <c:strRef>
              <c:f>Sheet1!$B$1</c:f>
              <c:strCache>
                <c:ptCount val="1"/>
                <c:pt idx="0">
                  <c:v>Exactitud</c:v>
                </c:pt>
              </c:strCache>
            </c:strRef>
          </c:tx>
          <c:spPr>
            <a:solidFill>
              <a:srgbClr val="0F766E"/>
            </a:solidFill>
            <a:effectLst/>
          </c:spPr>
          <c:invertIfNegative val="0"/>
          <c:dLbls>
            <c:numFmt formatCode="0.000" sourceLinked="0"/>
            <c:txPr>
              <a:bodyPr/>
              <a:lstStyle/>
              <a:p>
                <a:pPr>
                  <a:defRPr b="0" i="0" strike="noStrike" sz="1200" u="none">
                    <a:solidFill>
                      <a:srgbClr val="1B2A3A"/>
                    </a:solidFill>
                    <a:latin typeface="+mn-lt"/>
                  </a:defRPr>
                </a:pPr>
              </a:p>
            </c:txPr>
            <c:showLegendKey val="0"/>
            <c:showVal val="1"/>
            <c:showCatName val="0"/>
            <c:showSerName val="0"/>
            <c:showPercent val="0"/>
            <c:showBubbleSize val="0"/>
            <c:showLeaderLines val="0"/>
          </c:dLbls>
          <c:cat>
            <c:multiLvlStrRef>
              <c:f>Sheet1!$A$2:$A$5</c:f>
              <c:multiLvlStrCache>
                <c:ptCount val="4"/>
                <c:lvl>
                  <c:pt idx="0">
                    <c:v>Base</c:v>
                  </c:pt>
                  <c:pt idx="1">
                    <c:v>GAP</c:v>
                  </c:pt>
                  <c:pt idx="2">
                    <c:v>Feature ext.</c:v>
                  </c:pt>
                  <c:pt idx="3">
                    <c:v>Fine-tuning</c:v>
                  </c:pt>
                </c:lvl>
              </c:multiLvlStrCache>
            </c:multiLvlStrRef>
          </c:cat>
          <c:val>
            <c:numRef>
              <c:f>Sheet1!$B$2:$B$5</c:f>
              <c:numCache>
                <c:formatCode>General</c:formatCode>
                <c:ptCount val="4"/>
                <c:pt idx="0">
                  <c:v>0.7</c:v>
                </c:pt>
                <c:pt idx="1">
                  <c:v>0.667</c:v>
                </c:pt>
                <c:pt idx="2">
                  <c:v>0.867</c:v>
                </c:pt>
                <c:pt idx="3">
                  <c:v>0.967</c:v>
                </c:pt>
              </c:numCache>
            </c:numRef>
          </c:val>
        </c:ser>
        <c:dLbls>
          <c:numFmt formatCode="0.000" sourceLinked="0"/>
          <c:txPr>
            <a:bodyPr/>
            <a:lstStyle/>
            <a:p>
              <a:pPr>
                <a:defRPr b="0" i="0" strike="noStrike" sz="1200" u="none">
                  <a:solidFill>
                    <a:srgbClr val="1B2A3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[ACCIÓN] MOSTRAR: diapositiva 1 ("Clasificación de TC 3D: COVID vs normal").
Buenas noches, soy Jorge Chamorro. En este video presento mi solución del examen parcial de INF659: clasificar tomografías 3D como COVID o normales. Usé 200 volúmenes, 100 de cada clase, de 128 por 128 por 64. La partición estratificada es de 170 volúmenes para entrenar y 30 para prueba, y ese conjunto de prueba hizo también de validación, así que las métricas son optimistas. Todos los resultados son de 10 épocas, por la caída de la sesión de Colab y por tiempo. Antes hice una corrida de 30 épocas, que declaro en el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[ACCIÓN] MOSTRAR: diapositiva 2 ("P1 · Modelo base: 98 % de parámetros en las capas finales").
El modelo base tiene tres bloques de convolución 3D, max pooling y BatchNorm, con 16, 32 y 32 filtros. Después hay una capa de aplanado, una capa densa de 64 neuronas, Dropout de 0,3 y una salida sigmoide.
[ACCIÓN] CAMBIAR A COLAB (Alt+Tab): celda de P1 cuya última línea es `model.summary()`. MOSTRAR la tabla de salida `Model: "functional"` y desplazarla hasta la última línea: `Total params: 2,450,881`.
Este es el resumen del modelo: el total es 2 450 881 parámetros. Cada convolución tiene filtro al cubo por canales de entrada, más 1, por canales de salida: la primera da 448, más 64 de la BatchNorm, 512. El 98 por ciento está en las capas finales: el aplanado entrega 14 por 14 por 6 por 32, es decir 37 632 valores, a la capa densa de 64 neuronas.
[ACCIÓN] VOLVER a la diapositiva 2 y avanzar a la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[ACCIÓN] MOSTRAR: diapositiva 3 ("P1 · Predicción vs realidad: sobreajuste sí, mínimo no"). Señalar con el cursor el gráfico de curvas a la izquierda (loss a la izquierda, accuracy a la derecha).
Predije sobreajuste, con una brecha de al menos 10 puntos, y se cumplió: en la época 10, exactitud de 0,841 en entrenamiento contra 0,700 en validación. La pérdida de validación no mostró un mínimo seguido de subida: el menor valor es 0,500 en la época 9 y sube a 0,528 en la 10. Lo que no previ: en las épocas 1 a 4 la exactitud de validación se queda en 0,50 con pérdida entre 1,02 y 1,21. Eso no es sobreajuste sino una diferencia entre entrenamiento e inferencia; mi hipótesis es la BatchNorm con lote de 2, que no comprobé.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[ACCIÓN] MOSTRAR: diapositiva 4 ("P2 · Ablación: base densa vs residual vs GAP"). Señalar las filas de la tabla al nombrarlas.
Comparé tres variantes con los mismos filtros, tasa de aprendizaje, épocas y criterios de parada. Mis hipótesis: la base sobreajusta; la residual mejora poco; y GAP, que promedia cada mapa, sobreajusta menos pero puede quedarse corta. Resultados: la base llega a 0,700 de exactitud, con F1 de 0,743, en la época 7; la residual se queda en 0,500 con F1 de 0, no aprendió; y GAP llega a 0,667 con F1 de 0,737 en la época 8, con 42 337 parámetros frente a 2,45 millones.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[ACCIÓN] MOSTRAR: diapositiva 5 ("P2 · Por qué cambian los resultados"). Señalar el gráfico de la izquierda (residual) al empezar y el de la derecha (GAP) en el segundo párrafo.
En la residual, la pérdida baja de 2,07 a 0,693, que es lo que se obtiene al predecir siempre 0,5: clasifica todo como normal. Pasó también en la corrida de 30 épocas. Mi hipótesis, que no verifiqué, es que el bloque termina sin normalización y la capa densa recibe 50 400 valores sin normalizar. Eso no cuestiona a las residuales en general: ayudan en redes profundas y esta es poco profunda.
[ACCIÓN] SEÑALAR el gráfico de la derecha (GAP).
En GAP, promediar cada mapa de activación reduce los parámetros unas 58 veces. No sobreajusta, pero aprende lento: la exactitud de validación se queda en 0,50 hasta la época 7. Elegí la base como mejor de las tres desde cero, pero la diferencia con GAP es un solo error, 21 contra 20 aciertos: es ruido.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[ACCIÓN] MOSTRAR: diapositiva 6 ("P3 · Transferencia de aprendizaje por cortes con ResNet50"). Recorrer con el cursor las seis cajas de izquierda a derecha.
Para la transferencia de aprendizaje usé ResNet50, preentrenada en ImageNet, aplicada por cortes: 16 cortes por volumen, uno de cada cuatro. Cada corte en gris se replica a tres canales y se preprocesa como pide ResNet50. De cada corte salen 2048 características, que promedio antes de la salida sigmoide. Lo hice por cortes y no extendiendo los filtros a 3D porque así reutilizo los pesos 2D sin reescribirlos. La BatchNorm de la red preentrenada la dejé congelada: con lote de 2 y 16 cortes de solo 2 pacientes, sus estadísticas no serían representativas.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[ACCIÓN] MOSTRAR: diapositiva 7 ("P3 · Fine-tuning supera a feature extraction y al modelo base"). Señalar la tabla.
Con feature extraction, es decir, entrenando solo la capa final, con 2 049 parámetros y tasa de aprendizaje de 0,001, la exactitud sube a 0,867, 26 aciertos de 30. Con fine-tuning, es decir, ajustando también el último bloque de la red, con tasa de 0,0001, llega a 0,967, 29 de 30.
[ACCIÓN] CAMBIAR A COLAB (Alt+Tab): celda de P3 cuya última línea es `print(f"{k:24s} params=...` (dentro de `for k, v in resultados.items():`). MOSTRAR la salida impresa: las cinco líneas `a_base`, `b_residual`, `c_gap`, `tl_feature_extraction` y `tl_finetuning`. Señalar la última (`tl_finetuning ... acc=0.967 f1=0.966 mejor_ep=10`).
Esta es la salida del notebook: fine-tuning, 0,967 con F1 de 0,966, en la época 10.
[ACCIÓN] VOLVER a la diapositiva 7.
ImageNet son fotos a color y esto son cortes de TC en gris: hay una brecha de dominio; las características simples se transfieren y el fine-tuning adapta las más complejas. Reservas: una sola corrida, la mejor época es la última, y la elegí con el mismo conjunto de prueba, así que 0,967 es optimista.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[ACCIÓN] MOSTRAR: diapositiva 8 ("P4 · Grad-CAM: el calor se reparte sin foco clínico").
Apliqué Grad-CAM a la última capa convolucional del modelo base. No usé CAM porque la base no tiene promedio global; Grad-CAM lo generaliza usando el promedio de los gradientes como peso de cada mapa de activación.
[ACCIÓN] CAMBIAR A COLAB (Alt+Tab): celda de P4 cuya última línea es `plt.tight_layout(); plt.show()`. MOSTRAR primero las 4 líneas impresas (`Acierto idx=5 …`, `Acierto idx=13 …`, `Error idx=11 …`, `Error idx=2 …`) y luego desplazarse a la figura de 4 filas por 3 columnas. Señalar cada fila al nombrarla.
Cuatro casos. Primera fila, acierto anormal, caso 5, probabilidad 0,99: solo 11 por ciento del calor en el borde. Segunda fila, acierto normal, caso 13: 52 por ciento, difuso en pared, fondo y mesa. Tercera y cuarta fila, dos falsos positivos: el caso 11, probabilidad 0,88, con 46 por ciento, mira pared, hombro y esternón; el caso 2, probabilidad 0,77, con 52 por ciento, mira pared y fuera del cuerpo.
[ACCIÓN] VOLVER a la diapositiva 8.
El borde que medí ocupa cerca del 51 por ciento del área, así que 52 por ciento de calor ahí no prueba sesgo: indica calor sin foco. Limitación: no lo hice sobre el mejor modelo, el de fine-tuning.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[ACCIÓN] MOSTRAR: diapositiva 9 ("P5 · Con 30 casos, las diferencias son poco fiables"). Señalar la tabla de intervalos a la derecha.
Con 30 casos, un error mueve la exactitud 3,3 puntos. Con intervalos de confianza de Wilson al 95 por ciento, la base va de 0,521 a 0,833 y GAP de 0,488 a 0,808: no se pueden distinguir. Fine-tuning va de 0,833 a 0,994 y apenas se separa de la base, porque su límite inferior coincide con el límite superior de la base.
Sobre la BatchNorm con lote de 2: en entrenamiento usa estadísticas de solo dos volúmenes, muy ruidosas; en inferencia usa medias móviles, que se actualizan lento. Es una hipótesis. Alternativas: normalización por grupos o por capa, o acumular gradientes.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[ACCIÓN] MOSTRAR: diapositiva 10 ("P5 · Métrica clínica: sensibilidad y especificidad"). Señalar la fila de cada modelo al nombrarlo.
En tamizaje un falso negativo cuesta más que un falso positivo, porque deja pasar a un paciente. Miro sensibilidad, especificidad y AUC. La base tiene sensibilidad de 0,87 y especificidad de 0,53, con 2 falsos negativos y 7 falsos positivos. GAP sube la sensibilidad a 0,93, pero la especificidad cae a 0,40, con 9 falsos positivos. Fine-tuning tiene sensibilidad de 0,93, especificidad de 1,00 y AUC de 0,97: 1 falso negativo y ninguno positivo. El fallo que vi en Grad-CAM son falsos positivos con alta confianza apoyados en pared y fondo; propondría segmentar el pulmón con una máscara y verificar de nuevo con Grad-CAM.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[ACCIÓN] MOSTRAR: diapositiva 11 ("Cierre: qué no funcionó y uso de IA").
No funcionó la residual, que colapsó a 0,5 sin que yo verificara la causa; 10 épocas fueron pocas para GAP; y no apliqué Grad-CAM al mejor modelo. Usé Claude para generar código, depurar y redactar borradores; ejecuté todo y decidí yo. Fine-tuning fue lo único que superó claramente a los modelos entrenados desde cero, con la reserva de que son 30 casos y una sola corrida. Gracias.
[ACCIÓN] DETENER la grabación.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2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8046720" cy="118872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8046720" cy="118872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Clasificación de TC 3D: COVID vs normal</a:t>
            </a:r>
            <a:endParaRPr lang="en-US" sz="3600" dirty="0"/>
          </a:p>
        </p:txBody>
      </p:sp>
      <p:sp>
        <p:nvSpPr>
          <p:cNvPr id="3" name="Text 1"/>
          <p:cNvSpPr txBox="1"/>
          <p:nvPr/>
        </p:nvSpPr>
        <p:spPr>
          <a:xfrm>
            <a:off x="548640" y="2011680"/>
            <a:ext cx="8046720" cy="457200"/>
          </a:xfrm>
          <a:prstGeom prst="rect">
            <a:avLst/>
          </a:prstGeom>
          <a:noFill/>
          <a:ln/>
        </p:spPr>
        <p:txBody>
          <a:bodyPr wrap="square" lIns="0" tIns="0" rIns="0" bIns="0" rtlCol="0" anchor="ctr"/>
          <a:lstStyle/>
          <a:p>
            <a:pPr indent="0" marL="0">
              <a:buNone/>
            </a:pPr>
            <a:r>
              <a:rPr lang="en-US" sz="1600" dirty="0">
                <a:solidFill>
                  <a:srgbClr val="CADCDD"/>
                </a:solidFill>
              </a:rPr>
              <a:t>Examen Parcial · INF659 Técnicas Avanzadas de Data Mining y Sistemas Inteligentes · 2026-2</a:t>
            </a:r>
            <a:endParaRPr lang="en-US" sz="1600" dirty="0"/>
          </a:p>
        </p:txBody>
      </p:sp>
      <p:sp>
        <p:nvSpPr>
          <p:cNvPr id="4" name="Text 2"/>
          <p:cNvSpPr txBox="1"/>
          <p:nvPr/>
        </p:nvSpPr>
        <p:spPr>
          <a:xfrm>
            <a:off x="548640" y="2514600"/>
            <a:ext cx="8046720" cy="365760"/>
          </a:xfrm>
          <a:prstGeom prst="rect">
            <a:avLst/>
          </a:prstGeom>
          <a:noFill/>
          <a:ln/>
        </p:spPr>
        <p:txBody>
          <a:bodyPr wrap="square" lIns="0" tIns="0" rIns="0" bIns="0" rtlCol="0" anchor="ctr"/>
          <a:lstStyle/>
          <a:p>
            <a:pPr indent="0" marL="0">
              <a:buNone/>
            </a:pPr>
            <a:r>
              <a:rPr lang="en-US" sz="1600" b="1" dirty="0">
                <a:solidFill>
                  <a:schemeClr val="bg1"/>
                </a:solidFill>
              </a:rPr>
              <a:t>Jorge Chamorro · 20206234</a:t>
            </a:r>
            <a:endParaRPr lang="en-US" sz="1600" dirty="0"/>
          </a:p>
        </p:txBody>
      </p:sp>
      <p:sp>
        <p:nvSpPr>
          <p:cNvPr id="5" name="stat"/>
          <p:cNvSpPr/>
          <p:nvPr/>
        </p:nvSpPr>
        <p:spPr>
          <a:xfrm>
            <a:off x="548640" y="3383280"/>
            <a:ext cx="1874520" cy="1097280"/>
          </a:xfrm>
          <a:prstGeom prst="roundRect">
            <a:avLst>
              <a:gd name="adj" fmla="val 6667"/>
            </a:avLst>
          </a:prstGeom>
          <a:solidFill>
            <a:schemeClr val="accent1"/>
          </a:solidFill>
          <a:ln w="12700">
            <a:solidFill>
              <a:schemeClr val="accent1"/>
            </a:solidFill>
            <a:prstDash val="solid"/>
          </a:ln>
        </p:spPr>
      </p:sp>
      <p:sp>
        <p:nvSpPr>
          <p:cNvPr id="6" name="Text 4"/>
          <p:cNvSpPr txBox="1"/>
          <p:nvPr/>
        </p:nvSpPr>
        <p:spPr>
          <a:xfrm>
            <a:off x="640080" y="3456432"/>
            <a:ext cx="1691640" cy="50292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200</a:t>
            </a:r>
            <a:endParaRPr lang="en-US" sz="2200" dirty="0"/>
          </a:p>
        </p:txBody>
      </p:sp>
      <p:sp>
        <p:nvSpPr>
          <p:cNvPr id="7" name="Text 5"/>
          <p:cNvSpPr txBox="1"/>
          <p:nvPr/>
        </p:nvSpPr>
        <p:spPr>
          <a:xfrm>
            <a:off x="640080" y="3977640"/>
            <a:ext cx="1691640" cy="457200"/>
          </a:xfrm>
          <a:prstGeom prst="rect">
            <a:avLst/>
          </a:prstGeom>
          <a:noFill/>
          <a:ln/>
        </p:spPr>
        <p:txBody>
          <a:bodyPr wrap="square" lIns="0" tIns="0" rIns="0" bIns="0" rtlCol="0" anchor="t"/>
          <a:lstStyle/>
          <a:p>
            <a:pPr indent="0" marL="0">
              <a:buNone/>
            </a:pPr>
            <a:r>
              <a:rPr lang="en-US" sz="1200" dirty="0">
                <a:solidFill>
                  <a:schemeClr val="bg1"/>
                </a:solidFill>
              </a:rPr>
              <a:t>volúmenes (100/100)</a:t>
            </a:r>
            <a:endParaRPr lang="en-US" sz="1200" dirty="0"/>
          </a:p>
        </p:txBody>
      </p:sp>
      <p:sp>
        <p:nvSpPr>
          <p:cNvPr id="8" name="stat"/>
          <p:cNvSpPr/>
          <p:nvPr/>
        </p:nvSpPr>
        <p:spPr>
          <a:xfrm>
            <a:off x="2606040" y="3383280"/>
            <a:ext cx="1874520" cy="1097280"/>
          </a:xfrm>
          <a:prstGeom prst="roundRect">
            <a:avLst>
              <a:gd name="adj" fmla="val 6667"/>
            </a:avLst>
          </a:prstGeom>
          <a:solidFill>
            <a:schemeClr val="accent1"/>
          </a:solidFill>
          <a:ln w="12700">
            <a:solidFill>
              <a:schemeClr val="accent1"/>
            </a:solidFill>
            <a:prstDash val="solid"/>
          </a:ln>
        </p:spPr>
      </p:sp>
      <p:sp>
        <p:nvSpPr>
          <p:cNvPr id="9" name="Text 7"/>
          <p:cNvSpPr txBox="1"/>
          <p:nvPr/>
        </p:nvSpPr>
        <p:spPr>
          <a:xfrm>
            <a:off x="2697480" y="3456432"/>
            <a:ext cx="1691640" cy="50292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128×128×64</a:t>
            </a:r>
            <a:endParaRPr lang="en-US" sz="2200" dirty="0"/>
          </a:p>
        </p:txBody>
      </p:sp>
      <p:sp>
        <p:nvSpPr>
          <p:cNvPr id="10" name="Text 8"/>
          <p:cNvSpPr txBox="1"/>
          <p:nvPr/>
        </p:nvSpPr>
        <p:spPr>
          <a:xfrm>
            <a:off x="2697480" y="3977640"/>
            <a:ext cx="1691640" cy="457200"/>
          </a:xfrm>
          <a:prstGeom prst="rect">
            <a:avLst/>
          </a:prstGeom>
          <a:noFill/>
          <a:ln/>
        </p:spPr>
        <p:txBody>
          <a:bodyPr wrap="square" lIns="0" tIns="0" rIns="0" bIns="0" rtlCol="0" anchor="t"/>
          <a:lstStyle/>
          <a:p>
            <a:pPr indent="0" marL="0">
              <a:buNone/>
            </a:pPr>
            <a:r>
              <a:rPr lang="en-US" sz="1200" dirty="0">
                <a:solidFill>
                  <a:schemeClr val="bg1"/>
                </a:solidFill>
              </a:rPr>
              <a:t>intensidad escalada a [0, 1]</a:t>
            </a:r>
            <a:endParaRPr lang="en-US" sz="1200" dirty="0"/>
          </a:p>
        </p:txBody>
      </p:sp>
      <p:sp>
        <p:nvSpPr>
          <p:cNvPr id="11" name="stat"/>
          <p:cNvSpPr/>
          <p:nvPr/>
        </p:nvSpPr>
        <p:spPr>
          <a:xfrm>
            <a:off x="4663440" y="3383280"/>
            <a:ext cx="1874520" cy="1097280"/>
          </a:xfrm>
          <a:prstGeom prst="roundRect">
            <a:avLst>
              <a:gd name="adj" fmla="val 6667"/>
            </a:avLst>
          </a:prstGeom>
          <a:solidFill>
            <a:schemeClr val="accent1"/>
          </a:solidFill>
          <a:ln w="12700">
            <a:solidFill>
              <a:schemeClr val="accent1"/>
            </a:solidFill>
            <a:prstDash val="solid"/>
          </a:ln>
        </p:spPr>
      </p:sp>
      <p:sp>
        <p:nvSpPr>
          <p:cNvPr id="12" name="Text 10"/>
          <p:cNvSpPr txBox="1"/>
          <p:nvPr/>
        </p:nvSpPr>
        <p:spPr>
          <a:xfrm>
            <a:off x="4754880" y="3456432"/>
            <a:ext cx="1691640" cy="50292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170 / 30</a:t>
            </a:r>
            <a:endParaRPr lang="en-US" sz="2200" dirty="0"/>
          </a:p>
        </p:txBody>
      </p:sp>
      <p:sp>
        <p:nvSpPr>
          <p:cNvPr id="13" name="Text 11"/>
          <p:cNvSpPr txBox="1"/>
          <p:nvPr/>
        </p:nvSpPr>
        <p:spPr>
          <a:xfrm>
            <a:off x="4754880" y="3977640"/>
            <a:ext cx="1691640" cy="457200"/>
          </a:xfrm>
          <a:prstGeom prst="rect">
            <a:avLst/>
          </a:prstGeom>
          <a:noFill/>
          <a:ln/>
        </p:spPr>
        <p:txBody>
          <a:bodyPr wrap="square" lIns="0" tIns="0" rIns="0" bIns="0" rtlCol="0" anchor="t"/>
          <a:lstStyle/>
          <a:p>
            <a:pPr indent="0" marL="0">
              <a:buNone/>
            </a:pPr>
            <a:r>
              <a:rPr lang="en-US" sz="1200" dirty="0">
                <a:solidFill>
                  <a:schemeClr val="bg1"/>
                </a:solidFill>
              </a:rPr>
              <a:t>entrenamiento / prueba</a:t>
            </a:r>
            <a:endParaRPr lang="en-US" sz="1200" dirty="0"/>
          </a:p>
        </p:txBody>
      </p:sp>
      <p:sp>
        <p:nvSpPr>
          <p:cNvPr id="14" name="stat"/>
          <p:cNvSpPr/>
          <p:nvPr/>
        </p:nvSpPr>
        <p:spPr>
          <a:xfrm>
            <a:off x="6720840" y="3383280"/>
            <a:ext cx="1874520" cy="1097280"/>
          </a:xfrm>
          <a:prstGeom prst="roundRect">
            <a:avLst>
              <a:gd name="adj" fmla="val 6667"/>
            </a:avLst>
          </a:prstGeom>
          <a:solidFill>
            <a:schemeClr val="accent1"/>
          </a:solidFill>
          <a:ln w="12700">
            <a:solidFill>
              <a:schemeClr val="accent1"/>
            </a:solidFill>
            <a:prstDash val="solid"/>
          </a:ln>
        </p:spPr>
      </p:sp>
      <p:sp>
        <p:nvSpPr>
          <p:cNvPr id="15" name="Text 13"/>
          <p:cNvSpPr txBox="1"/>
          <p:nvPr/>
        </p:nvSpPr>
        <p:spPr>
          <a:xfrm>
            <a:off x="6812280" y="3456432"/>
            <a:ext cx="1691640" cy="50292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10 épocas</a:t>
            </a:r>
            <a:endParaRPr lang="en-US" sz="2200" dirty="0"/>
          </a:p>
        </p:txBody>
      </p:sp>
      <p:sp>
        <p:nvSpPr>
          <p:cNvPr id="16" name="Text 14"/>
          <p:cNvSpPr txBox="1"/>
          <p:nvPr/>
        </p:nvSpPr>
        <p:spPr>
          <a:xfrm>
            <a:off x="6812280" y="3977640"/>
            <a:ext cx="1691640" cy="457200"/>
          </a:xfrm>
          <a:prstGeom prst="rect">
            <a:avLst/>
          </a:prstGeom>
          <a:noFill/>
          <a:ln/>
        </p:spPr>
        <p:txBody>
          <a:bodyPr wrap="square" lIns="0" tIns="0" rIns="0" bIns="0" rtlCol="0" anchor="t"/>
          <a:lstStyle/>
          <a:p>
            <a:pPr indent="0" marL="0">
              <a:buNone/>
            </a:pPr>
            <a:r>
              <a:rPr lang="en-US" sz="1200" dirty="0">
                <a:solidFill>
                  <a:schemeClr val="bg1"/>
                </a:solidFill>
              </a:rPr>
              <a:t>reducción declarada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P1 · Modelo base: 98 % de parámetros en las capas finales</a:t>
            </a:r>
            <a:endParaRPr lang="en-US" sz="2400" dirty="0"/>
          </a:p>
        </p:txBody>
      </p:sp>
      <p:sp>
        <p:nvSpPr>
          <p:cNvPr id="3" name="Text 1"/>
          <p:cNvSpPr txBox="1"/>
          <p:nvPr/>
        </p:nvSpPr>
        <p:spPr>
          <a:xfrm>
            <a:off x="457200" y="1005840"/>
            <a:ext cx="8229600" cy="548640"/>
          </a:xfrm>
          <a:prstGeom prst="rect">
            <a:avLst/>
          </a:prstGeom>
          <a:noFill/>
          <a:ln/>
        </p:spPr>
        <p:txBody>
          <a:bodyPr wrap="square" lIns="0" tIns="0" rIns="0" bIns="0" rtlCol="0" anchor="ctr"/>
          <a:lstStyle/>
          <a:p>
            <a:pPr indent="0" marL="0">
              <a:buNone/>
            </a:pPr>
            <a:r>
              <a:rPr lang="en-US" sz="1500" dirty="0">
                <a:solidFill>
                  <a:schemeClr val="tx1"/>
                </a:solidFill>
              </a:rPr>
              <a:t>3 × [convolución 3D → max pooling → BatchNorm] (16 / 32 / 32 filtros) → aplanado → capa densa (64) → Dropout 0,3 → sigmoide</a:t>
            </a:r>
            <a:endParaRPr lang="en-US" sz="15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4937760" cy="914400"/>
        </p:xfrm>
        <a:graphic>
          <a:graphicData uri="http://schemas.openxmlformats.org/drawingml/2006/table">
            <a:tbl>
              <a:tblPr/>
              <a:tblGrid>
                <a:gridCol w="3108960"/>
                <a:gridCol w="1828800"/>
              </a:tblGrid>
              <a:tr h="384048">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Bloque</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Parámetros</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r>
              <a:tr h="384048">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Bloque 1</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512</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84048">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Bloque 2</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13 984</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84048">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Bloque 3</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27 808</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84048">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Capas finales (aplanado + densa + salida)</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b="1" dirty="0">
                          <a:solidFill>
                            <a:schemeClr val="accent2"/>
                          </a:solidFill>
                          <a:latin typeface="Calibri" pitchFamily="34" charset="0"/>
                          <a:ea typeface="Calibri" pitchFamily="34" charset="-122"/>
                          <a:cs typeface="Calibri" pitchFamily="34" charset="-120"/>
                        </a:rPr>
                        <a:t>2 408 577</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84048">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2 450 881</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5" name="card"/>
          <p:cNvSpPr/>
          <p:nvPr/>
        </p:nvSpPr>
        <p:spPr>
          <a:xfrm>
            <a:off x="5760720" y="1737360"/>
            <a:ext cx="2926080" cy="1143000"/>
          </a:xfrm>
          <a:prstGeom prst="roundRect">
            <a:avLst>
              <a:gd name="adj" fmla="val 6400"/>
            </a:avLst>
          </a:prstGeom>
          <a:solidFill>
            <a:schemeClr val="bg2"/>
          </a:solidFill>
          <a:ln w="12700">
            <a:solidFill>
              <a:schemeClr val="bg2"/>
            </a:solidFill>
            <a:prstDash val="solid"/>
          </a:ln>
        </p:spPr>
      </p:sp>
      <p:sp>
        <p:nvSpPr>
          <p:cNvPr id="6" name="Text 3"/>
          <p:cNvSpPr txBox="1"/>
          <p:nvPr/>
        </p:nvSpPr>
        <p:spPr>
          <a:xfrm>
            <a:off x="5852160" y="1810512"/>
            <a:ext cx="2743200" cy="571500"/>
          </a:xfrm>
          <a:prstGeom prst="rect">
            <a:avLst/>
          </a:prstGeom>
          <a:noFill/>
          <a:ln/>
        </p:spPr>
        <p:txBody>
          <a:bodyPr wrap="square" lIns="0" tIns="0" rIns="0" bIns="0" rtlCol="0" anchor="ctr"/>
          <a:lstStyle/>
          <a:p>
            <a:pPr algn="l" indent="0" marL="0">
              <a:buNone/>
            </a:pPr>
            <a:r>
              <a:rPr lang="en-US" sz="2600" b="1" dirty="0">
                <a:solidFill>
                  <a:schemeClr val="accent2"/>
                </a:solidFill>
                <a:latin typeface="Cambria" pitchFamily="34" charset="0"/>
                <a:ea typeface="Cambria" pitchFamily="34" charset="-122"/>
                <a:cs typeface="Cambria" pitchFamily="34" charset="-120"/>
              </a:rPr>
              <a:t>98 %</a:t>
            </a:r>
            <a:endParaRPr lang="en-US" sz="2600" dirty="0"/>
          </a:p>
        </p:txBody>
      </p:sp>
      <p:sp>
        <p:nvSpPr>
          <p:cNvPr id="7" name="Text 4"/>
          <p:cNvSpPr txBox="1"/>
          <p:nvPr/>
        </p:nvSpPr>
        <p:spPr>
          <a:xfrm>
            <a:off x="5852160" y="2308860"/>
            <a:ext cx="2743200" cy="525780"/>
          </a:xfrm>
          <a:prstGeom prst="rect">
            <a:avLst/>
          </a:prstGeom>
          <a:noFill/>
          <a:ln/>
        </p:spPr>
        <p:txBody>
          <a:bodyPr wrap="square" lIns="0" tIns="0" rIns="0" bIns="0" rtlCol="0" anchor="t"/>
          <a:lstStyle/>
          <a:p>
            <a:pPr algn="l" indent="0" marL="0">
              <a:buNone/>
            </a:pPr>
            <a:r>
              <a:rPr lang="en-US" sz="1300" dirty="0">
                <a:solidFill>
                  <a:schemeClr val="tx1"/>
                </a:solidFill>
              </a:rPr>
              <a:t>de los parámetros en las capas finales</a:t>
            </a:r>
            <a:endParaRPr lang="en-US" sz="1300" dirty="0"/>
          </a:p>
        </p:txBody>
      </p:sp>
      <p:sp>
        <p:nvSpPr>
          <p:cNvPr id="8" name="card"/>
          <p:cNvSpPr/>
          <p:nvPr/>
        </p:nvSpPr>
        <p:spPr>
          <a:xfrm>
            <a:off x="5760720" y="3063240"/>
            <a:ext cx="2926080" cy="1143000"/>
          </a:xfrm>
          <a:prstGeom prst="roundRect">
            <a:avLst>
              <a:gd name="adj" fmla="val 6400"/>
            </a:avLst>
          </a:prstGeom>
          <a:solidFill>
            <a:schemeClr val="bg2"/>
          </a:solidFill>
          <a:ln w="12700">
            <a:solidFill>
              <a:schemeClr val="bg2"/>
            </a:solidFill>
            <a:prstDash val="solid"/>
          </a:ln>
        </p:spPr>
      </p:sp>
      <p:sp>
        <p:nvSpPr>
          <p:cNvPr id="9" name="Text 6"/>
          <p:cNvSpPr txBox="1"/>
          <p:nvPr/>
        </p:nvSpPr>
        <p:spPr>
          <a:xfrm>
            <a:off x="5852160" y="3136392"/>
            <a:ext cx="2743200" cy="571500"/>
          </a:xfrm>
          <a:prstGeom prst="rect">
            <a:avLst/>
          </a:prstGeom>
          <a:noFill/>
          <a:ln/>
        </p:spPr>
        <p:txBody>
          <a:bodyPr wrap="square" lIns="0" tIns="0" rIns="0" bIns="0" rtlCol="0" anchor="ctr"/>
          <a:lstStyle/>
          <a:p>
            <a:pPr algn="l" indent="0" marL="0">
              <a:buNone/>
            </a:pPr>
            <a:r>
              <a:rPr lang="en-US" sz="2600" b="1" dirty="0">
                <a:solidFill>
                  <a:schemeClr val="accent1"/>
                </a:solidFill>
                <a:latin typeface="Cambria" pitchFamily="34" charset="0"/>
                <a:ea typeface="Cambria" pitchFamily="34" charset="-122"/>
                <a:cs typeface="Cambria" pitchFamily="34" charset="-120"/>
              </a:rPr>
              <a:t>37 632</a:t>
            </a:r>
            <a:endParaRPr lang="en-US" sz="2600" dirty="0"/>
          </a:p>
        </p:txBody>
      </p:sp>
      <p:sp>
        <p:nvSpPr>
          <p:cNvPr id="10" name="Text 7"/>
          <p:cNvSpPr txBox="1"/>
          <p:nvPr/>
        </p:nvSpPr>
        <p:spPr>
          <a:xfrm>
            <a:off x="5852160" y="3634740"/>
            <a:ext cx="2743200" cy="525780"/>
          </a:xfrm>
          <a:prstGeom prst="rect">
            <a:avLst/>
          </a:prstGeom>
          <a:noFill/>
          <a:ln/>
        </p:spPr>
        <p:txBody>
          <a:bodyPr wrap="square" lIns="0" tIns="0" rIns="0" bIns="0" rtlCol="0" anchor="t"/>
          <a:lstStyle/>
          <a:p>
            <a:pPr algn="l" indent="0" marL="0">
              <a:buNone/>
            </a:pPr>
            <a:r>
              <a:rPr lang="en-US" sz="1300" dirty="0">
                <a:solidFill>
                  <a:schemeClr val="tx1"/>
                </a:solidFill>
              </a:rPr>
              <a:t>valores que entran a la capa densa (14×14×6×32)</a:t>
            </a:r>
            <a:endParaRPr lang="en-US" sz="13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P1 · Predicción vs realidad: sobreajuste sí, mínimo no</a:t>
            </a:r>
            <a:endParaRPr lang="en-US" sz="2400" dirty="0"/>
          </a:p>
        </p:txBody>
      </p:sp>
      <p:pic>
        <p:nvPicPr>
          <p:cNvPr id="3" name="curvas base" descr="/tmp/claude-0/-home-claude/425f3a39-706f-51da-b436-22a5370c437b/scratchpad/deck/base.png">    </p:cNvPr>
          <p:cNvPicPr>
            <a:picLocks noChangeAspect="1"/>
          </p:cNvPicPr>
          <p:nvPr/>
        </p:nvPicPr>
        <p:blipFill>
          <a:blip r:embed="rId1"/>
          <a:stretch>
            <a:fillRect/>
          </a:stretch>
        </p:blipFill>
        <p:spPr>
          <a:xfrm>
            <a:off x="457200" y="1005840"/>
            <a:ext cx="5120640" cy="1645920"/>
          </a:xfrm>
          <a:prstGeom prst="rect">
            <a:avLst/>
          </a:prstGeom>
        </p:spPr>
      </p:pic>
      <p:sp>
        <p:nvSpPr>
          <p:cNvPr id="4" name="Text 1"/>
          <p:cNvSpPr txBox="1"/>
          <p:nvPr/>
        </p:nvSpPr>
        <p:spPr>
          <a:xfrm>
            <a:off x="457200" y="2697480"/>
            <a:ext cx="5120640" cy="274320"/>
          </a:xfrm>
          <a:prstGeom prst="rect">
            <a:avLst/>
          </a:prstGeom>
          <a:noFill/>
          <a:ln/>
        </p:spPr>
        <p:txBody>
          <a:bodyPr wrap="square" lIns="0" tIns="0" rIns="0" bIns="0" rtlCol="0" anchor="ctr"/>
          <a:lstStyle/>
          <a:p>
            <a:pPr indent="0" marL="0">
              <a:buNone/>
            </a:pPr>
            <a:r>
              <a:rPr lang="en-US" sz="1100" dirty="0">
                <a:solidFill>
                  <a:schemeClr val="accent3"/>
                </a:solidFill>
              </a:rPr>
              <a:t>Modelo base, 10 épocas. Entrenamiento (azul) vs validación (naranja).</a:t>
            </a:r>
            <a:endParaRPr lang="en-US" sz="1100" dirty="0"/>
          </a:p>
        </p:txBody>
      </p:sp>
      <p:sp>
        <p:nvSpPr>
          <p:cNvPr id="5" name="card"/>
          <p:cNvSpPr/>
          <p:nvPr/>
        </p:nvSpPr>
        <p:spPr>
          <a:xfrm>
            <a:off x="5852160" y="1005840"/>
            <a:ext cx="2834640" cy="1051560"/>
          </a:xfrm>
          <a:prstGeom prst="roundRect">
            <a:avLst>
              <a:gd name="adj" fmla="val 6957"/>
            </a:avLst>
          </a:prstGeom>
          <a:solidFill>
            <a:schemeClr val="bg2"/>
          </a:solidFill>
          <a:ln w="12700">
            <a:solidFill>
              <a:schemeClr val="bg2"/>
            </a:solidFill>
            <a:prstDash val="solid"/>
          </a:ln>
        </p:spPr>
      </p:sp>
      <p:sp>
        <p:nvSpPr>
          <p:cNvPr id="6" name="Text 3"/>
          <p:cNvSpPr txBox="1"/>
          <p:nvPr/>
        </p:nvSpPr>
        <p:spPr>
          <a:xfrm>
            <a:off x="5943600" y="1078992"/>
            <a:ext cx="2651760" cy="525780"/>
          </a:xfrm>
          <a:prstGeom prst="rect">
            <a:avLst/>
          </a:prstGeom>
          <a:noFill/>
          <a:ln/>
        </p:spPr>
        <p:txBody>
          <a:bodyPr wrap="square" lIns="0" tIns="0" rIns="0" bIns="0" rtlCol="0" anchor="ctr"/>
          <a:lstStyle/>
          <a:p>
            <a:pPr algn="l" indent="0" marL="0">
              <a:buNone/>
            </a:pPr>
            <a:r>
              <a:rPr lang="en-US" sz="2600" b="1" dirty="0">
                <a:solidFill>
                  <a:schemeClr val="accent1"/>
                </a:solidFill>
                <a:latin typeface="Cambria" pitchFamily="34" charset="0"/>
                <a:ea typeface="Cambria" pitchFamily="34" charset="-122"/>
                <a:cs typeface="Cambria" pitchFamily="34" charset="-120"/>
              </a:rPr>
              <a:t>0,841 vs 0,700</a:t>
            </a:r>
            <a:endParaRPr lang="en-US" sz="2600" dirty="0"/>
          </a:p>
        </p:txBody>
      </p:sp>
      <p:sp>
        <p:nvSpPr>
          <p:cNvPr id="7" name="Text 4"/>
          <p:cNvSpPr txBox="1"/>
          <p:nvPr/>
        </p:nvSpPr>
        <p:spPr>
          <a:xfrm>
            <a:off x="5943600" y="1531620"/>
            <a:ext cx="2651760" cy="483718"/>
          </a:xfrm>
          <a:prstGeom prst="rect">
            <a:avLst/>
          </a:prstGeom>
          <a:noFill/>
          <a:ln/>
        </p:spPr>
        <p:txBody>
          <a:bodyPr wrap="square" lIns="0" tIns="0" rIns="0" bIns="0" rtlCol="0" anchor="t"/>
          <a:lstStyle/>
          <a:p>
            <a:pPr algn="l" indent="0" marL="0">
              <a:buNone/>
            </a:pPr>
            <a:r>
              <a:rPr lang="en-US" sz="1300" dirty="0">
                <a:solidFill>
                  <a:schemeClr val="tx1"/>
                </a:solidFill>
              </a:rPr>
              <a:t>entrenamiento vs validación: brecha de 14 pts ✔</a:t>
            </a:r>
            <a:endParaRPr lang="en-US" sz="1300" dirty="0"/>
          </a:p>
        </p:txBody>
      </p:sp>
      <p:sp>
        <p:nvSpPr>
          <p:cNvPr id="8" name="card"/>
          <p:cNvSpPr/>
          <p:nvPr/>
        </p:nvSpPr>
        <p:spPr>
          <a:xfrm>
            <a:off x="5852160" y="2194560"/>
            <a:ext cx="2834640" cy="1051560"/>
          </a:xfrm>
          <a:prstGeom prst="roundRect">
            <a:avLst>
              <a:gd name="adj" fmla="val 6957"/>
            </a:avLst>
          </a:prstGeom>
          <a:solidFill>
            <a:schemeClr val="bg2"/>
          </a:solidFill>
          <a:ln w="12700">
            <a:solidFill>
              <a:schemeClr val="bg2"/>
            </a:solidFill>
            <a:prstDash val="solid"/>
          </a:ln>
        </p:spPr>
      </p:sp>
      <p:sp>
        <p:nvSpPr>
          <p:cNvPr id="9" name="Text 6"/>
          <p:cNvSpPr txBox="1"/>
          <p:nvPr/>
        </p:nvSpPr>
        <p:spPr>
          <a:xfrm>
            <a:off x="5943600" y="2267712"/>
            <a:ext cx="2651760" cy="525780"/>
          </a:xfrm>
          <a:prstGeom prst="rect">
            <a:avLst/>
          </a:prstGeom>
          <a:noFill/>
          <a:ln/>
        </p:spPr>
        <p:txBody>
          <a:bodyPr wrap="square" lIns="0" tIns="0" rIns="0" bIns="0" rtlCol="0" anchor="ctr"/>
          <a:lstStyle/>
          <a:p>
            <a:pPr algn="l" indent="0" marL="0">
              <a:buNone/>
            </a:pPr>
            <a:r>
              <a:rPr lang="en-US" sz="2600" b="1" dirty="0">
                <a:solidFill>
                  <a:schemeClr val="accent4"/>
                </a:solidFill>
                <a:latin typeface="Cambria" pitchFamily="34" charset="0"/>
                <a:ea typeface="Cambria" pitchFamily="34" charset="-122"/>
                <a:cs typeface="Cambria" pitchFamily="34" charset="-120"/>
              </a:rPr>
              <a:t>Sin mínimo claro</a:t>
            </a:r>
            <a:endParaRPr lang="en-US" sz="2600" dirty="0"/>
          </a:p>
        </p:txBody>
      </p:sp>
      <p:sp>
        <p:nvSpPr>
          <p:cNvPr id="10" name="Text 7"/>
          <p:cNvSpPr txBox="1"/>
          <p:nvPr/>
        </p:nvSpPr>
        <p:spPr>
          <a:xfrm>
            <a:off x="5943600" y="2720340"/>
            <a:ext cx="2651760" cy="483718"/>
          </a:xfrm>
          <a:prstGeom prst="rect">
            <a:avLst/>
          </a:prstGeom>
          <a:noFill/>
          <a:ln/>
        </p:spPr>
        <p:txBody>
          <a:bodyPr wrap="square" lIns="0" tIns="0" rIns="0" bIns="0" rtlCol="0" anchor="t"/>
          <a:lstStyle/>
          <a:p>
            <a:pPr algn="l" indent="0" marL="0">
              <a:buNone/>
            </a:pPr>
            <a:r>
              <a:rPr lang="en-US" sz="1300" dirty="0">
                <a:solidFill>
                  <a:schemeClr val="tx1"/>
                </a:solidFill>
              </a:rPr>
              <a:t>mín. 0,500 en época 9, sin subida sostenida ✘</a:t>
            </a:r>
            <a:endParaRPr lang="en-US" sz="1300" dirty="0"/>
          </a:p>
        </p:txBody>
      </p:sp>
      <p:sp>
        <p:nvSpPr>
          <p:cNvPr id="11" name="card"/>
          <p:cNvSpPr/>
          <p:nvPr/>
        </p:nvSpPr>
        <p:spPr>
          <a:xfrm>
            <a:off x="457200" y="3291840"/>
            <a:ext cx="8229600" cy="1097280"/>
          </a:xfrm>
          <a:prstGeom prst="roundRect">
            <a:avLst>
              <a:gd name="adj" fmla="val 6667"/>
            </a:avLst>
          </a:prstGeom>
          <a:solidFill>
            <a:schemeClr val="bg2"/>
          </a:solidFill>
          <a:ln w="12700">
            <a:solidFill>
              <a:schemeClr val="bg2"/>
            </a:solidFill>
            <a:prstDash val="solid"/>
          </a:ln>
        </p:spPr>
      </p:sp>
      <p:sp>
        <p:nvSpPr>
          <p:cNvPr id="12" name="Text 9"/>
          <p:cNvSpPr txBox="1"/>
          <p:nvPr/>
        </p:nvSpPr>
        <p:spPr>
          <a:xfrm>
            <a:off x="548640" y="3364992"/>
            <a:ext cx="8046720" cy="548640"/>
          </a:xfrm>
          <a:prstGeom prst="rect">
            <a:avLst/>
          </a:prstGeom>
          <a:noFill/>
          <a:ln/>
        </p:spPr>
        <p:txBody>
          <a:bodyPr wrap="square" lIns="0" tIns="0" rIns="0" bIns="0" rtlCol="0" anchor="ctr"/>
          <a:lstStyle/>
          <a:p>
            <a:pPr algn="l" indent="0" marL="0">
              <a:buNone/>
            </a:pPr>
            <a:r>
              <a:rPr lang="en-US" sz="2600" b="1" dirty="0">
                <a:solidFill>
                  <a:schemeClr val="accent2"/>
                </a:solidFill>
                <a:latin typeface="Cambria" pitchFamily="34" charset="0"/>
                <a:ea typeface="Cambria" pitchFamily="34" charset="-122"/>
                <a:cs typeface="Cambria" pitchFamily="34" charset="-120"/>
              </a:rPr>
              <a:t>Épocas 1–4: exactitud 0,50 · pérdida 1,02–1,21</a:t>
            </a:r>
            <a:endParaRPr lang="en-US" sz="2600" dirty="0"/>
          </a:p>
        </p:txBody>
      </p:sp>
      <p:sp>
        <p:nvSpPr>
          <p:cNvPr id="13" name="Text 10"/>
          <p:cNvSpPr txBox="1"/>
          <p:nvPr/>
        </p:nvSpPr>
        <p:spPr>
          <a:xfrm>
            <a:off x="548640" y="3840480"/>
            <a:ext cx="8046720" cy="504749"/>
          </a:xfrm>
          <a:prstGeom prst="rect">
            <a:avLst/>
          </a:prstGeom>
          <a:noFill/>
          <a:ln/>
        </p:spPr>
        <p:txBody>
          <a:bodyPr wrap="square" lIns="0" tIns="0" rIns="0" bIns="0" rtlCol="0" anchor="t"/>
          <a:lstStyle/>
          <a:p>
            <a:pPr algn="l" indent="0" marL="0">
              <a:buNone/>
            </a:pPr>
            <a:r>
              <a:rPr lang="en-US" sz="1300" dirty="0">
                <a:solidFill>
                  <a:schemeClr val="tx1"/>
                </a:solidFill>
              </a:rPr>
              <a:t>Exactitud de validación, no previsto. Diferencia entrenamiento/inferencia; hipótesis: BatchNorm con lote de 2 (no comprobada).</a:t>
            </a:r>
            <a:endParaRPr lang="en-US" sz="13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P2 · Ablación: base densa vs residual vs GAP</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554480"/>
                <a:gridCol w="1188720"/>
                <a:gridCol w="914400"/>
                <a:gridCol w="731520"/>
                <a:gridCol w="1097280"/>
                <a:gridCol w="2743200"/>
              </a:tblGrid>
              <a:tr h="457200">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Variante</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Parámetros</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Exactitud val.</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Mejor época</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Observación</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r>
              <a:tr h="45720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(a) Base densa</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2 450 881</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0,700</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0,743</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Sobreajuste incipiente</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5720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(b) Residual 3D</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3 324 193</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b="1" dirty="0">
                          <a:solidFill>
                            <a:schemeClr val="accent4"/>
                          </a:solidFill>
                          <a:latin typeface="Calibri" pitchFamily="34" charset="0"/>
                          <a:ea typeface="Calibri" pitchFamily="34" charset="-122"/>
                          <a:cs typeface="Calibri" pitchFamily="34" charset="-120"/>
                        </a:rPr>
                        <a:t>0,500</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b="1" dirty="0">
                          <a:solidFill>
                            <a:schemeClr val="accent4"/>
                          </a:solidFill>
                          <a:latin typeface="Calibri" pitchFamily="34" charset="0"/>
                          <a:ea typeface="Calibri" pitchFamily="34" charset="-122"/>
                          <a:cs typeface="Calibri" pitchFamily="34" charset="-120"/>
                        </a:rPr>
                        <a:t>0,000</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No aprendió (pérdida = 0,693)</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5720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(c) GAP</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42 337</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0,667</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0,737</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Aprende lento, 9 falsos positivos</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4" name="card"/>
          <p:cNvSpPr/>
          <p:nvPr/>
        </p:nvSpPr>
        <p:spPr>
          <a:xfrm>
            <a:off x="457200" y="3200400"/>
            <a:ext cx="2560320" cy="1097280"/>
          </a:xfrm>
          <a:prstGeom prst="roundRect">
            <a:avLst>
              <a:gd name="adj" fmla="val 6667"/>
            </a:avLst>
          </a:prstGeom>
          <a:solidFill>
            <a:schemeClr val="bg2"/>
          </a:solidFill>
          <a:ln w="12700">
            <a:solidFill>
              <a:schemeClr val="bg2"/>
            </a:solidFill>
            <a:prstDash val="solid"/>
          </a:ln>
        </p:spPr>
      </p:sp>
      <p:sp>
        <p:nvSpPr>
          <p:cNvPr id="5" name="Text 2"/>
          <p:cNvSpPr txBox="1"/>
          <p:nvPr/>
        </p:nvSpPr>
        <p:spPr>
          <a:xfrm>
            <a:off x="548640" y="3273552"/>
            <a:ext cx="2377440" cy="548640"/>
          </a:xfrm>
          <a:prstGeom prst="rect">
            <a:avLst/>
          </a:prstGeom>
          <a:noFill/>
          <a:ln/>
        </p:spPr>
        <p:txBody>
          <a:bodyPr wrap="square" lIns="0" tIns="0" rIns="0" bIns="0" rtlCol="0" anchor="ctr"/>
          <a:lstStyle/>
          <a:p>
            <a:pPr algn="l" indent="0" marL="0">
              <a:buNone/>
            </a:pPr>
            <a:r>
              <a:rPr lang="en-US" sz="2600" b="1" dirty="0">
                <a:solidFill>
                  <a:schemeClr val="accent1"/>
                </a:solidFill>
                <a:latin typeface="Cambria" pitchFamily="34" charset="0"/>
                <a:ea typeface="Cambria" pitchFamily="34" charset="-122"/>
                <a:cs typeface="Cambria" pitchFamily="34" charset="-120"/>
              </a:rPr>
              <a:t>(a)</a:t>
            </a:r>
            <a:endParaRPr lang="en-US" sz="2600" dirty="0"/>
          </a:p>
        </p:txBody>
      </p:sp>
      <p:sp>
        <p:nvSpPr>
          <p:cNvPr id="6" name="Text 3"/>
          <p:cNvSpPr txBox="1"/>
          <p:nvPr/>
        </p:nvSpPr>
        <p:spPr>
          <a:xfrm>
            <a:off x="548640" y="3749040"/>
            <a:ext cx="2377440" cy="504749"/>
          </a:xfrm>
          <a:prstGeom prst="rect">
            <a:avLst/>
          </a:prstGeom>
          <a:noFill/>
          <a:ln/>
        </p:spPr>
        <p:txBody>
          <a:bodyPr wrap="square" lIns="0" tIns="0" rIns="0" bIns="0" rtlCol="0" anchor="t"/>
          <a:lstStyle/>
          <a:p>
            <a:pPr algn="l" indent="0" marL="0">
              <a:buNone/>
            </a:pPr>
            <a:r>
              <a:rPr lang="en-US" sz="1300" dirty="0">
                <a:solidFill>
                  <a:schemeClr val="tx1"/>
                </a:solidFill>
              </a:rPr>
              <a:t>sobreajusta: brecha de 14 pts</a:t>
            </a:r>
            <a:endParaRPr lang="en-US" sz="1300" dirty="0"/>
          </a:p>
        </p:txBody>
      </p:sp>
      <p:sp>
        <p:nvSpPr>
          <p:cNvPr id="7" name="card"/>
          <p:cNvSpPr/>
          <p:nvPr/>
        </p:nvSpPr>
        <p:spPr>
          <a:xfrm>
            <a:off x="3291840" y="3200400"/>
            <a:ext cx="2560320" cy="1097280"/>
          </a:xfrm>
          <a:prstGeom prst="roundRect">
            <a:avLst>
              <a:gd name="adj" fmla="val 6667"/>
            </a:avLst>
          </a:prstGeom>
          <a:solidFill>
            <a:schemeClr val="bg2"/>
          </a:solidFill>
          <a:ln w="12700">
            <a:solidFill>
              <a:schemeClr val="bg2"/>
            </a:solidFill>
            <a:prstDash val="solid"/>
          </a:ln>
        </p:spPr>
      </p:sp>
      <p:sp>
        <p:nvSpPr>
          <p:cNvPr id="8" name="Text 5"/>
          <p:cNvSpPr txBox="1"/>
          <p:nvPr/>
        </p:nvSpPr>
        <p:spPr>
          <a:xfrm>
            <a:off x="3383280" y="3273552"/>
            <a:ext cx="2377440" cy="548640"/>
          </a:xfrm>
          <a:prstGeom prst="rect">
            <a:avLst/>
          </a:prstGeom>
          <a:noFill/>
          <a:ln/>
        </p:spPr>
        <p:txBody>
          <a:bodyPr wrap="square" lIns="0" tIns="0" rIns="0" bIns="0" rtlCol="0" anchor="ctr"/>
          <a:lstStyle/>
          <a:p>
            <a:pPr algn="l" indent="0" marL="0">
              <a:buNone/>
            </a:pPr>
            <a:r>
              <a:rPr lang="en-US" sz="2600" b="1" dirty="0">
                <a:solidFill>
                  <a:schemeClr val="accent4"/>
                </a:solidFill>
                <a:latin typeface="Cambria" pitchFamily="34" charset="0"/>
                <a:ea typeface="Cambria" pitchFamily="34" charset="-122"/>
                <a:cs typeface="Cambria" pitchFamily="34" charset="-120"/>
              </a:rPr>
              <a:t>(b)</a:t>
            </a:r>
            <a:endParaRPr lang="en-US" sz="2600" dirty="0"/>
          </a:p>
        </p:txBody>
      </p:sp>
      <p:sp>
        <p:nvSpPr>
          <p:cNvPr id="9" name="Text 6"/>
          <p:cNvSpPr txBox="1"/>
          <p:nvPr/>
        </p:nvSpPr>
        <p:spPr>
          <a:xfrm>
            <a:off x="3383280" y="3749040"/>
            <a:ext cx="2377440" cy="504749"/>
          </a:xfrm>
          <a:prstGeom prst="rect">
            <a:avLst/>
          </a:prstGeom>
          <a:noFill/>
          <a:ln/>
        </p:spPr>
        <p:txBody>
          <a:bodyPr wrap="square" lIns="0" tIns="0" rIns="0" bIns="0" rtlCol="0" anchor="t"/>
          <a:lstStyle/>
          <a:p>
            <a:pPr algn="l" indent="0" marL="0">
              <a:buNone/>
            </a:pPr>
            <a:r>
              <a:rPr lang="en-US" sz="1300" dirty="0">
                <a:solidFill>
                  <a:schemeClr val="tx1"/>
                </a:solidFill>
              </a:rPr>
              <a:t>mejora pequeña esperada; colapsó</a:t>
            </a:r>
            <a:endParaRPr lang="en-US" sz="1300" dirty="0"/>
          </a:p>
        </p:txBody>
      </p:sp>
      <p:sp>
        <p:nvSpPr>
          <p:cNvPr id="10" name="card"/>
          <p:cNvSpPr/>
          <p:nvPr/>
        </p:nvSpPr>
        <p:spPr>
          <a:xfrm>
            <a:off x="6126480" y="3200400"/>
            <a:ext cx="2560320" cy="1097280"/>
          </a:xfrm>
          <a:prstGeom prst="roundRect">
            <a:avLst>
              <a:gd name="adj" fmla="val 6667"/>
            </a:avLst>
          </a:prstGeom>
          <a:solidFill>
            <a:schemeClr val="bg2"/>
          </a:solidFill>
          <a:ln w="12700">
            <a:solidFill>
              <a:schemeClr val="bg2"/>
            </a:solidFill>
            <a:prstDash val="solid"/>
          </a:ln>
        </p:spPr>
      </p:sp>
      <p:sp>
        <p:nvSpPr>
          <p:cNvPr id="11" name="Text 8"/>
          <p:cNvSpPr txBox="1"/>
          <p:nvPr/>
        </p:nvSpPr>
        <p:spPr>
          <a:xfrm>
            <a:off x="6217920" y="3273552"/>
            <a:ext cx="2377440" cy="548640"/>
          </a:xfrm>
          <a:prstGeom prst="rect">
            <a:avLst/>
          </a:prstGeom>
          <a:noFill/>
          <a:ln/>
        </p:spPr>
        <p:txBody>
          <a:bodyPr wrap="square" lIns="0" tIns="0" rIns="0" bIns="0" rtlCol="0" anchor="ctr"/>
          <a:lstStyle/>
          <a:p>
            <a:pPr algn="l" indent="0" marL="0">
              <a:buNone/>
            </a:pPr>
            <a:r>
              <a:rPr lang="en-US" sz="2600" b="1" dirty="0">
                <a:solidFill>
                  <a:schemeClr val="accent2"/>
                </a:solidFill>
                <a:latin typeface="Cambria" pitchFamily="34" charset="0"/>
                <a:ea typeface="Cambria" pitchFamily="34" charset="-122"/>
                <a:cs typeface="Cambria" pitchFamily="34" charset="-120"/>
              </a:rPr>
              <a:t>(c)</a:t>
            </a:r>
            <a:endParaRPr lang="en-US" sz="2600" dirty="0"/>
          </a:p>
        </p:txBody>
      </p:sp>
      <p:sp>
        <p:nvSpPr>
          <p:cNvPr id="12" name="Text 9"/>
          <p:cNvSpPr txBox="1"/>
          <p:nvPr/>
        </p:nvSpPr>
        <p:spPr>
          <a:xfrm>
            <a:off x="6217920" y="3749040"/>
            <a:ext cx="2377440" cy="504749"/>
          </a:xfrm>
          <a:prstGeom prst="rect">
            <a:avLst/>
          </a:prstGeom>
          <a:noFill/>
          <a:ln/>
        </p:spPr>
        <p:txBody>
          <a:bodyPr wrap="square" lIns="0" tIns="0" rIns="0" bIns="0" rtlCol="0" anchor="t"/>
          <a:lstStyle/>
          <a:p>
            <a:pPr algn="l" indent="0" marL="0">
              <a:buNone/>
            </a:pPr>
            <a:r>
              <a:rPr lang="en-US" sz="1300" dirty="0">
                <a:solidFill>
                  <a:schemeClr val="tx1"/>
                </a:solidFill>
              </a:rPr>
              <a:t>menos sobreajuste, riesgo de subajuste</a:t>
            </a:r>
            <a:endParaRPr lang="en-US" sz="13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P2 · Por qué cambian los resultados</a:t>
            </a:r>
            <a:endParaRPr lang="en-US" sz="2400" dirty="0"/>
          </a:p>
        </p:txBody>
      </p:sp>
      <p:pic>
        <p:nvPicPr>
          <p:cNvPr id="3" name="curvas residual" descr="/tmp/claude-0/-home-claude/425f3a39-706f-51da-b436-22a5370c437b/scratchpad/deck/resid.png">    </p:cNvPr>
          <p:cNvPicPr>
            <a:picLocks noChangeAspect="1"/>
          </p:cNvPicPr>
          <p:nvPr/>
        </p:nvPicPr>
        <p:blipFill>
          <a:blip r:embed="rId1"/>
          <a:stretch>
            <a:fillRect/>
          </a:stretch>
        </p:blipFill>
        <p:spPr>
          <a:xfrm>
            <a:off x="457200" y="1051560"/>
            <a:ext cx="4023360" cy="1298448"/>
          </a:xfrm>
          <a:prstGeom prst="rect">
            <a:avLst/>
          </a:prstGeom>
        </p:spPr>
      </p:pic>
      <p:sp>
        <p:nvSpPr>
          <p:cNvPr id="4" name="Text 1"/>
          <p:cNvSpPr txBox="1"/>
          <p:nvPr/>
        </p:nvSpPr>
        <p:spPr>
          <a:xfrm>
            <a:off x="457200" y="2377440"/>
            <a:ext cx="4023360" cy="274320"/>
          </a:xfrm>
          <a:prstGeom prst="rect">
            <a:avLst/>
          </a:prstGeom>
          <a:noFill/>
          <a:ln/>
        </p:spPr>
        <p:txBody>
          <a:bodyPr wrap="square" lIns="0" tIns="0" rIns="0" bIns="0" rtlCol="0" anchor="ctr"/>
          <a:lstStyle/>
          <a:p>
            <a:pPr indent="0" marL="0">
              <a:buNone/>
            </a:pPr>
            <a:r>
              <a:rPr lang="en-US" sz="1200" b="1" dirty="0">
                <a:solidFill>
                  <a:schemeClr val="accent4"/>
                </a:solidFill>
              </a:rPr>
              <a:t>(b) Residual: pérdida → 0,693</a:t>
            </a:r>
            <a:endParaRPr lang="en-US" sz="1200" dirty="0"/>
          </a:p>
        </p:txBody>
      </p:sp>
      <p:pic>
        <p:nvPicPr>
          <p:cNvPr id="5" name="curvas gap" descr="/tmp/claude-0/-home-claude/425f3a39-706f-51da-b436-22a5370c437b/scratchpad/deck/gap.png">    </p:cNvPr>
          <p:cNvPicPr>
            <a:picLocks noChangeAspect="1"/>
          </p:cNvPicPr>
          <p:nvPr/>
        </p:nvPicPr>
        <p:blipFill>
          <a:blip r:embed="rId2"/>
          <a:stretch>
            <a:fillRect/>
          </a:stretch>
        </p:blipFill>
        <p:spPr>
          <a:xfrm>
            <a:off x="4663440" y="1051560"/>
            <a:ext cx="4023360" cy="1298448"/>
          </a:xfrm>
          <a:prstGeom prst="rect">
            <a:avLst/>
          </a:prstGeom>
        </p:spPr>
      </p:pic>
      <p:sp>
        <p:nvSpPr>
          <p:cNvPr id="6" name="Text 2"/>
          <p:cNvSpPr txBox="1"/>
          <p:nvPr/>
        </p:nvSpPr>
        <p:spPr>
          <a:xfrm>
            <a:off x="4663440" y="2377440"/>
            <a:ext cx="4023360" cy="274320"/>
          </a:xfrm>
          <a:prstGeom prst="rect">
            <a:avLst/>
          </a:prstGeom>
          <a:noFill/>
          <a:ln/>
        </p:spPr>
        <p:txBody>
          <a:bodyPr wrap="square" lIns="0" tIns="0" rIns="0" bIns="0" rtlCol="0" anchor="ctr"/>
          <a:lstStyle/>
          <a:p>
            <a:pPr indent="0" marL="0">
              <a:buNone/>
            </a:pPr>
            <a:r>
              <a:rPr lang="en-US" sz="1200" b="1" dirty="0">
                <a:solidFill>
                  <a:schemeClr val="accent2"/>
                </a:solidFill>
              </a:rPr>
              <a:t>(c) GAP: exactitud de validación 0,50 hasta la época 7</a:t>
            </a:r>
            <a:endParaRPr lang="en-US" sz="1200" dirty="0"/>
          </a:p>
        </p:txBody>
      </p:sp>
      <p:sp>
        <p:nvSpPr>
          <p:cNvPr id="7" name="Text 3"/>
          <p:cNvSpPr txBox="1"/>
          <p:nvPr/>
        </p:nvSpPr>
        <p:spPr>
          <a:xfrm>
            <a:off x="457200" y="2834640"/>
            <a:ext cx="8229600" cy="155448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rPr>
              <a:t>Hipótesis (b), no verificada: </a:t>
            </a:r>
            <a:pPr indent="0" marL="0">
              <a:spcAft>
                <a:spcPts val="800"/>
              </a:spcAft>
              <a:buNone/>
            </a:pPr>
            <a:r>
              <a:rPr lang="en-US" sz="1500" dirty="0">
                <a:solidFill>
                  <a:schemeClr val="tx1"/>
                </a:solidFill>
              </a:rPr>
              <a:t>el bloque termina sin normalización y la capa densa recibe 50 400 valores sin normalizar.</a:t>
            </a:r>
            <a:endParaRPr lang="en-US" sz="1500" dirty="0"/>
          </a:p>
          <a:p>
            <a:pPr indent="0" marL="0">
              <a:spcAft>
                <a:spcPts val="800"/>
              </a:spcAft>
              <a:buNone/>
            </a:pPr>
            <a:r>
              <a:rPr lang="en-US" sz="1500" b="1" dirty="0">
                <a:solidFill>
                  <a:schemeClr val="tx1"/>
                </a:solidFill>
              </a:rPr>
              <a:t>Hallazgo (c): </a:t>
            </a:r>
            <a:pPr indent="0" marL="0">
              <a:spcAft>
                <a:spcPts val="800"/>
              </a:spcAft>
              <a:buNone/>
            </a:pPr>
            <a:r>
              <a:rPr lang="en-US" sz="1500" dirty="0">
                <a:solidFill>
                  <a:schemeClr val="tx1"/>
                </a:solidFill>
              </a:rPr>
              <a:t>58 veces menos parámetros, sin sobreajuste, pero aprende lento.</a:t>
            </a:r>
            <a:endParaRPr lang="en-US" sz="1500" dirty="0"/>
          </a:p>
          <a:p>
            <a:pPr indent="0" marL="0">
              <a:spcAft>
                <a:spcPts val="800"/>
              </a:spcAft>
              <a:buNone/>
            </a:pPr>
            <a:r>
              <a:rPr lang="en-US" sz="1500" b="1" dirty="0">
                <a:solidFill>
                  <a:schemeClr val="tx1"/>
                </a:solidFill>
              </a:rPr>
              <a:t>Elección: </a:t>
            </a:r>
            <a:pPr indent="0" marL="0">
              <a:spcAft>
                <a:spcPts val="800"/>
              </a:spcAft>
              <a:buNone/>
            </a:pPr>
            <a:r>
              <a:rPr lang="en-US" sz="1500" dirty="0">
                <a:solidFill>
                  <a:schemeClr val="tx1"/>
                </a:solidFill>
              </a:rPr>
              <a:t>(a), aunque la diferencia con (c) es 1 error (21 vs 20): ruido.</a:t>
            </a:r>
            <a:endParaRPr lang="en-US" sz="15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P3 · Transferencia de aprendizaje por cortes con ResNet50</a:t>
            </a:r>
            <a:endParaRPr lang="en-US" sz="2400" dirty="0"/>
          </a:p>
        </p:txBody>
      </p:sp>
      <p:sp>
        <p:nvSpPr>
          <p:cNvPr id="3" name="paso 1"/>
          <p:cNvSpPr/>
          <p:nvPr/>
        </p:nvSpPr>
        <p:spPr>
          <a:xfrm>
            <a:off x="457200" y="1280160"/>
            <a:ext cx="1234440" cy="1005840"/>
          </a:xfrm>
          <a:prstGeom prst="roundRect">
            <a:avLst>
              <a:gd name="adj" fmla="val 7273"/>
            </a:avLst>
          </a:prstGeom>
          <a:solidFill>
            <a:schemeClr val="bg2"/>
          </a:solidFill>
          <a:ln w="12700">
            <a:solidFill>
              <a:schemeClr val="bg2"/>
            </a:solidFill>
            <a:prstDash val="solid"/>
          </a:ln>
        </p:spPr>
      </p:sp>
      <p:sp>
        <p:nvSpPr>
          <p:cNvPr id="4" name="Text 2"/>
          <p:cNvSpPr txBox="1"/>
          <p:nvPr/>
        </p:nvSpPr>
        <p:spPr>
          <a:xfrm>
            <a:off x="502920" y="1280160"/>
            <a:ext cx="1143000" cy="1005840"/>
          </a:xfrm>
          <a:prstGeom prst="rect">
            <a:avLst/>
          </a:prstGeom>
          <a:noFill/>
          <a:ln/>
        </p:spPr>
        <p:txBody>
          <a:bodyPr wrap="square" lIns="0" tIns="0" rIns="0" bIns="0" rtlCol="0" anchor="ctr"/>
          <a:lstStyle/>
          <a:p>
            <a:pPr algn="ctr" indent="0" marL="0">
              <a:buNone/>
            </a:pPr>
            <a:r>
              <a:rPr lang="en-US" sz="1200" dirty="0">
                <a:solidFill>
                  <a:schemeClr val="tx1"/>
                </a:solidFill>
              </a:rPr>
              <a:t>16 cortes</a:t>
            </a:r>
            <a:endParaRPr lang="en-US" sz="1200" dirty="0"/>
          </a:p>
          <a:p>
            <a:pPr algn="ctr" indent="0" marL="0">
              <a:buNone/>
            </a:pPr>
            <a:r>
              <a:rPr lang="en-US" sz="1200" dirty="0">
                <a:solidFill>
                  <a:schemeClr val="tx1"/>
                </a:solidFill>
              </a:rPr>
              <a:t>(1 de cada 4)</a:t>
            </a:r>
            <a:endParaRPr lang="en-US" sz="1200" dirty="0"/>
          </a:p>
        </p:txBody>
      </p:sp>
      <p:sp>
        <p:nvSpPr>
          <p:cNvPr id="5" name="Text 3"/>
          <p:cNvSpPr txBox="1"/>
          <p:nvPr/>
        </p:nvSpPr>
        <p:spPr>
          <a:xfrm>
            <a:off x="1673352" y="1554480"/>
            <a:ext cx="201168" cy="457200"/>
          </a:xfrm>
          <a:prstGeom prst="rect">
            <a:avLst/>
          </a:prstGeom>
          <a:noFill/>
          <a:ln/>
        </p:spPr>
        <p:txBody>
          <a:bodyPr wrap="square" lIns="0" tIns="0" rIns="0" bIns="0" rtlCol="0" anchor="ctr"/>
          <a:lstStyle/>
          <a:p>
            <a:pPr algn="ctr" indent="0" marL="0">
              <a:buNone/>
            </a:pPr>
            <a:r>
              <a:rPr lang="en-US" sz="2200" b="1" dirty="0">
                <a:solidFill>
                  <a:schemeClr val="accent3"/>
                </a:solidFill>
              </a:rPr>
              <a:t>›</a:t>
            </a:r>
            <a:endParaRPr lang="en-US" sz="2200" dirty="0"/>
          </a:p>
        </p:txBody>
      </p:sp>
      <p:sp>
        <p:nvSpPr>
          <p:cNvPr id="6" name="paso 2"/>
          <p:cNvSpPr/>
          <p:nvPr/>
        </p:nvSpPr>
        <p:spPr>
          <a:xfrm>
            <a:off x="1856232" y="1280160"/>
            <a:ext cx="1234440" cy="1005840"/>
          </a:xfrm>
          <a:prstGeom prst="roundRect">
            <a:avLst>
              <a:gd name="adj" fmla="val 7273"/>
            </a:avLst>
          </a:prstGeom>
          <a:solidFill>
            <a:schemeClr val="bg2"/>
          </a:solidFill>
          <a:ln w="12700">
            <a:solidFill>
              <a:schemeClr val="bg2"/>
            </a:solidFill>
            <a:prstDash val="solid"/>
          </a:ln>
        </p:spPr>
      </p:sp>
      <p:sp>
        <p:nvSpPr>
          <p:cNvPr id="7" name="Text 5"/>
          <p:cNvSpPr txBox="1"/>
          <p:nvPr/>
        </p:nvSpPr>
        <p:spPr>
          <a:xfrm>
            <a:off x="1901952" y="1280160"/>
            <a:ext cx="1143000" cy="1005840"/>
          </a:xfrm>
          <a:prstGeom prst="rect">
            <a:avLst/>
          </a:prstGeom>
          <a:noFill/>
          <a:ln/>
        </p:spPr>
        <p:txBody>
          <a:bodyPr wrap="square" lIns="0" tIns="0" rIns="0" bIns="0" rtlCol="0" anchor="ctr"/>
          <a:lstStyle/>
          <a:p>
            <a:pPr algn="ctr" indent="0" marL="0">
              <a:buNone/>
            </a:pPr>
            <a:r>
              <a:rPr lang="en-US" sz="1200" dirty="0">
                <a:solidFill>
                  <a:schemeClr val="tx1"/>
                </a:solidFill>
              </a:rPr>
              <a:t>Gris → 3 canales</a:t>
            </a:r>
            <a:endParaRPr lang="en-US" sz="1200" dirty="0"/>
          </a:p>
          <a:p>
            <a:pPr algn="ctr" indent="0" marL="0">
              <a:buNone/>
            </a:pPr>
            <a:r>
              <a:rPr lang="en-US" sz="1200" dirty="0">
                <a:solidFill>
                  <a:schemeClr val="tx1"/>
                </a:solidFill>
              </a:rPr>
              <a:t>+ preprocesamiento</a:t>
            </a:r>
            <a:endParaRPr lang="en-US" sz="1200" dirty="0"/>
          </a:p>
        </p:txBody>
      </p:sp>
      <p:sp>
        <p:nvSpPr>
          <p:cNvPr id="8" name="Text 6"/>
          <p:cNvSpPr txBox="1"/>
          <p:nvPr/>
        </p:nvSpPr>
        <p:spPr>
          <a:xfrm>
            <a:off x="3072384" y="1554480"/>
            <a:ext cx="201168" cy="457200"/>
          </a:xfrm>
          <a:prstGeom prst="rect">
            <a:avLst/>
          </a:prstGeom>
          <a:noFill/>
          <a:ln/>
        </p:spPr>
        <p:txBody>
          <a:bodyPr wrap="square" lIns="0" tIns="0" rIns="0" bIns="0" rtlCol="0" anchor="ctr"/>
          <a:lstStyle/>
          <a:p>
            <a:pPr algn="ctr" indent="0" marL="0">
              <a:buNone/>
            </a:pPr>
            <a:r>
              <a:rPr lang="en-US" sz="2200" b="1" dirty="0">
                <a:solidFill>
                  <a:schemeClr val="accent3"/>
                </a:solidFill>
              </a:rPr>
              <a:t>›</a:t>
            </a:r>
            <a:endParaRPr lang="en-US" sz="2200" dirty="0"/>
          </a:p>
        </p:txBody>
      </p:sp>
      <p:sp>
        <p:nvSpPr>
          <p:cNvPr id="9" name="paso 3"/>
          <p:cNvSpPr/>
          <p:nvPr/>
        </p:nvSpPr>
        <p:spPr>
          <a:xfrm>
            <a:off x="3255264" y="1280160"/>
            <a:ext cx="1234440" cy="1005840"/>
          </a:xfrm>
          <a:prstGeom prst="roundRect">
            <a:avLst>
              <a:gd name="adj" fmla="val 7273"/>
            </a:avLst>
          </a:prstGeom>
          <a:solidFill>
            <a:schemeClr val="accent1"/>
          </a:solidFill>
          <a:ln w="12700">
            <a:solidFill>
              <a:schemeClr val="accent1"/>
            </a:solidFill>
            <a:prstDash val="solid"/>
          </a:ln>
        </p:spPr>
      </p:sp>
      <p:sp>
        <p:nvSpPr>
          <p:cNvPr id="10" name="Text 8"/>
          <p:cNvSpPr txBox="1"/>
          <p:nvPr/>
        </p:nvSpPr>
        <p:spPr>
          <a:xfrm>
            <a:off x="3300984" y="1280160"/>
            <a:ext cx="1143000" cy="1005840"/>
          </a:xfrm>
          <a:prstGeom prst="rect">
            <a:avLst/>
          </a:prstGeom>
          <a:noFill/>
          <a:ln/>
        </p:spPr>
        <p:txBody>
          <a:bodyPr wrap="square" lIns="0" tIns="0" rIns="0" bIns="0" rtlCol="0" anchor="ctr"/>
          <a:lstStyle/>
          <a:p>
            <a:pPr algn="ctr" indent="0" marL="0">
              <a:buNone/>
            </a:pPr>
            <a:r>
              <a:rPr lang="en-US" sz="1200" b="1" dirty="0">
                <a:solidFill>
                  <a:schemeClr val="bg1"/>
                </a:solidFill>
              </a:rPr>
              <a:t>ResNet50</a:t>
            </a:r>
            <a:endParaRPr lang="en-US" sz="1200" dirty="0"/>
          </a:p>
          <a:p>
            <a:pPr algn="ctr" indent="0" marL="0">
              <a:buNone/>
            </a:pPr>
            <a:r>
              <a:rPr lang="en-US" sz="1200" b="1" dirty="0">
                <a:solidFill>
                  <a:schemeClr val="bg1"/>
                </a:solidFill>
              </a:rPr>
              <a:t>ImageNet</a:t>
            </a:r>
            <a:endParaRPr lang="en-US" sz="1200" dirty="0"/>
          </a:p>
        </p:txBody>
      </p:sp>
      <p:sp>
        <p:nvSpPr>
          <p:cNvPr id="11" name="Text 9"/>
          <p:cNvSpPr txBox="1"/>
          <p:nvPr/>
        </p:nvSpPr>
        <p:spPr>
          <a:xfrm>
            <a:off x="4471416" y="1554480"/>
            <a:ext cx="201168" cy="457200"/>
          </a:xfrm>
          <a:prstGeom prst="rect">
            <a:avLst/>
          </a:prstGeom>
          <a:noFill/>
          <a:ln/>
        </p:spPr>
        <p:txBody>
          <a:bodyPr wrap="square" lIns="0" tIns="0" rIns="0" bIns="0" rtlCol="0" anchor="ctr"/>
          <a:lstStyle/>
          <a:p>
            <a:pPr algn="ctr" indent="0" marL="0">
              <a:buNone/>
            </a:pPr>
            <a:r>
              <a:rPr lang="en-US" sz="2200" b="1" dirty="0">
                <a:solidFill>
                  <a:schemeClr val="accent3"/>
                </a:solidFill>
              </a:rPr>
              <a:t>›</a:t>
            </a:r>
            <a:endParaRPr lang="en-US" sz="2200" dirty="0"/>
          </a:p>
        </p:txBody>
      </p:sp>
      <p:sp>
        <p:nvSpPr>
          <p:cNvPr id="12" name="paso 4"/>
          <p:cNvSpPr/>
          <p:nvPr/>
        </p:nvSpPr>
        <p:spPr>
          <a:xfrm>
            <a:off x="4654296" y="1280160"/>
            <a:ext cx="1234440" cy="1005840"/>
          </a:xfrm>
          <a:prstGeom prst="roundRect">
            <a:avLst>
              <a:gd name="adj" fmla="val 7273"/>
            </a:avLst>
          </a:prstGeom>
          <a:solidFill>
            <a:schemeClr val="bg2"/>
          </a:solidFill>
          <a:ln w="12700">
            <a:solidFill>
              <a:schemeClr val="bg2"/>
            </a:solidFill>
            <a:prstDash val="solid"/>
          </a:ln>
        </p:spPr>
      </p:sp>
      <p:sp>
        <p:nvSpPr>
          <p:cNvPr id="13" name="Text 11"/>
          <p:cNvSpPr txBox="1"/>
          <p:nvPr/>
        </p:nvSpPr>
        <p:spPr>
          <a:xfrm>
            <a:off x="4700016" y="1280160"/>
            <a:ext cx="1143000" cy="1005840"/>
          </a:xfrm>
          <a:prstGeom prst="rect">
            <a:avLst/>
          </a:prstGeom>
          <a:noFill/>
          <a:ln/>
        </p:spPr>
        <p:txBody>
          <a:bodyPr wrap="square" lIns="0" tIns="0" rIns="0" bIns="0" rtlCol="0" anchor="ctr"/>
          <a:lstStyle/>
          <a:p>
            <a:pPr algn="ctr" indent="0" marL="0">
              <a:buNone/>
            </a:pPr>
            <a:r>
              <a:rPr lang="en-US" sz="1200" dirty="0">
                <a:solidFill>
                  <a:schemeClr val="tx1"/>
                </a:solidFill>
              </a:rPr>
              <a:t>2048 características</a:t>
            </a:r>
            <a:endParaRPr lang="en-US" sz="1200" dirty="0"/>
          </a:p>
          <a:p>
            <a:pPr algn="ctr" indent="0" marL="0">
              <a:buNone/>
            </a:pPr>
            <a:r>
              <a:rPr lang="en-US" sz="1200" dirty="0">
                <a:solidFill>
                  <a:schemeClr val="tx1"/>
                </a:solidFill>
              </a:rPr>
              <a:t>por corte</a:t>
            </a:r>
            <a:endParaRPr lang="en-US" sz="1200" dirty="0"/>
          </a:p>
        </p:txBody>
      </p:sp>
      <p:sp>
        <p:nvSpPr>
          <p:cNvPr id="14" name="Text 12"/>
          <p:cNvSpPr txBox="1"/>
          <p:nvPr/>
        </p:nvSpPr>
        <p:spPr>
          <a:xfrm>
            <a:off x="5870448" y="1554480"/>
            <a:ext cx="201168" cy="457200"/>
          </a:xfrm>
          <a:prstGeom prst="rect">
            <a:avLst/>
          </a:prstGeom>
          <a:noFill/>
          <a:ln/>
        </p:spPr>
        <p:txBody>
          <a:bodyPr wrap="square" lIns="0" tIns="0" rIns="0" bIns="0" rtlCol="0" anchor="ctr"/>
          <a:lstStyle/>
          <a:p>
            <a:pPr algn="ctr" indent="0" marL="0">
              <a:buNone/>
            </a:pPr>
            <a:r>
              <a:rPr lang="en-US" sz="2200" b="1" dirty="0">
                <a:solidFill>
                  <a:schemeClr val="accent3"/>
                </a:solidFill>
              </a:rPr>
              <a:t>›</a:t>
            </a:r>
            <a:endParaRPr lang="en-US" sz="2200" dirty="0"/>
          </a:p>
        </p:txBody>
      </p:sp>
      <p:sp>
        <p:nvSpPr>
          <p:cNvPr id="15" name="paso 5"/>
          <p:cNvSpPr/>
          <p:nvPr/>
        </p:nvSpPr>
        <p:spPr>
          <a:xfrm>
            <a:off x="6053328" y="1280160"/>
            <a:ext cx="1234440" cy="1005840"/>
          </a:xfrm>
          <a:prstGeom prst="roundRect">
            <a:avLst>
              <a:gd name="adj" fmla="val 7273"/>
            </a:avLst>
          </a:prstGeom>
          <a:solidFill>
            <a:schemeClr val="bg2"/>
          </a:solidFill>
          <a:ln w="12700">
            <a:solidFill>
              <a:schemeClr val="bg2"/>
            </a:solidFill>
            <a:prstDash val="solid"/>
          </a:ln>
        </p:spPr>
      </p:sp>
      <p:sp>
        <p:nvSpPr>
          <p:cNvPr id="16" name="Text 14"/>
          <p:cNvSpPr txBox="1"/>
          <p:nvPr/>
        </p:nvSpPr>
        <p:spPr>
          <a:xfrm>
            <a:off x="6099048" y="1280160"/>
            <a:ext cx="1143000" cy="1005840"/>
          </a:xfrm>
          <a:prstGeom prst="rect">
            <a:avLst/>
          </a:prstGeom>
          <a:noFill/>
          <a:ln/>
        </p:spPr>
        <p:txBody>
          <a:bodyPr wrap="square" lIns="0" tIns="0" rIns="0" bIns="0" rtlCol="0" anchor="ctr"/>
          <a:lstStyle/>
          <a:p>
            <a:pPr algn="ctr" indent="0" marL="0">
              <a:buNone/>
            </a:pPr>
            <a:r>
              <a:rPr lang="en-US" sz="1200" dirty="0">
                <a:solidFill>
                  <a:schemeClr val="tx1"/>
                </a:solidFill>
              </a:rPr>
              <a:t>Promedio sobre</a:t>
            </a:r>
            <a:endParaRPr lang="en-US" sz="1200" dirty="0"/>
          </a:p>
          <a:p>
            <a:pPr algn="ctr" indent="0" marL="0">
              <a:buNone/>
            </a:pPr>
            <a:r>
              <a:rPr lang="en-US" sz="1200" dirty="0">
                <a:solidFill>
                  <a:schemeClr val="tx1"/>
                </a:solidFill>
              </a:rPr>
              <a:t>profundidad</a:t>
            </a:r>
            <a:endParaRPr lang="en-US" sz="1200" dirty="0"/>
          </a:p>
        </p:txBody>
      </p:sp>
      <p:sp>
        <p:nvSpPr>
          <p:cNvPr id="17" name="Text 15"/>
          <p:cNvSpPr txBox="1"/>
          <p:nvPr/>
        </p:nvSpPr>
        <p:spPr>
          <a:xfrm>
            <a:off x="7269480" y="1554480"/>
            <a:ext cx="201168" cy="457200"/>
          </a:xfrm>
          <a:prstGeom prst="rect">
            <a:avLst/>
          </a:prstGeom>
          <a:noFill/>
          <a:ln/>
        </p:spPr>
        <p:txBody>
          <a:bodyPr wrap="square" lIns="0" tIns="0" rIns="0" bIns="0" rtlCol="0" anchor="ctr"/>
          <a:lstStyle/>
          <a:p>
            <a:pPr algn="ctr" indent="0" marL="0">
              <a:buNone/>
            </a:pPr>
            <a:r>
              <a:rPr lang="en-US" sz="2200" b="1" dirty="0">
                <a:solidFill>
                  <a:schemeClr val="accent3"/>
                </a:solidFill>
              </a:rPr>
              <a:t>›</a:t>
            </a:r>
            <a:endParaRPr lang="en-US" sz="2200" dirty="0"/>
          </a:p>
        </p:txBody>
      </p:sp>
      <p:sp>
        <p:nvSpPr>
          <p:cNvPr id="18" name="paso 6"/>
          <p:cNvSpPr/>
          <p:nvPr/>
        </p:nvSpPr>
        <p:spPr>
          <a:xfrm>
            <a:off x="7452360" y="1280160"/>
            <a:ext cx="1234440" cy="1005840"/>
          </a:xfrm>
          <a:prstGeom prst="roundRect">
            <a:avLst>
              <a:gd name="adj" fmla="val 7273"/>
            </a:avLst>
          </a:prstGeom>
          <a:solidFill>
            <a:schemeClr val="bg2"/>
          </a:solidFill>
          <a:ln w="12700">
            <a:solidFill>
              <a:schemeClr val="bg2"/>
            </a:solidFill>
            <a:prstDash val="solid"/>
          </a:ln>
        </p:spPr>
      </p:sp>
      <p:sp>
        <p:nvSpPr>
          <p:cNvPr id="19" name="Text 17"/>
          <p:cNvSpPr txBox="1"/>
          <p:nvPr/>
        </p:nvSpPr>
        <p:spPr>
          <a:xfrm>
            <a:off x="7498080" y="1280160"/>
            <a:ext cx="1143000" cy="1005840"/>
          </a:xfrm>
          <a:prstGeom prst="rect">
            <a:avLst/>
          </a:prstGeom>
          <a:noFill/>
          <a:ln/>
        </p:spPr>
        <p:txBody>
          <a:bodyPr wrap="square" lIns="0" tIns="0" rIns="0" bIns="0" rtlCol="0" anchor="ctr"/>
          <a:lstStyle/>
          <a:p>
            <a:pPr algn="ctr" indent="0" marL="0">
              <a:buNone/>
            </a:pPr>
            <a:r>
              <a:rPr lang="en-US" sz="1200" dirty="0">
                <a:solidFill>
                  <a:schemeClr val="tx1"/>
                </a:solidFill>
              </a:rPr>
              <a:t>Dropout</a:t>
            </a:r>
            <a:endParaRPr lang="en-US" sz="1200" dirty="0"/>
          </a:p>
          <a:p>
            <a:pPr algn="ctr" indent="0" marL="0">
              <a:buNone/>
            </a:pPr>
            <a:r>
              <a:rPr lang="en-US" sz="1200" dirty="0">
                <a:solidFill>
                  <a:schemeClr val="tx1"/>
                </a:solidFill>
              </a:rPr>
              <a:t>→ sigmoide</a:t>
            </a:r>
            <a:endParaRPr lang="en-US" sz="1200" dirty="0"/>
          </a:p>
        </p:txBody>
      </p:sp>
      <p:sp>
        <p:nvSpPr>
          <p:cNvPr id="20" name="card"/>
          <p:cNvSpPr/>
          <p:nvPr/>
        </p:nvSpPr>
        <p:spPr>
          <a:xfrm>
            <a:off x="457200" y="2743200"/>
            <a:ext cx="2560320" cy="1371600"/>
          </a:xfrm>
          <a:prstGeom prst="roundRect">
            <a:avLst>
              <a:gd name="adj" fmla="val 5333"/>
            </a:avLst>
          </a:prstGeom>
          <a:solidFill>
            <a:schemeClr val="bg2"/>
          </a:solidFill>
          <a:ln w="12700">
            <a:solidFill>
              <a:schemeClr val="bg2"/>
            </a:solidFill>
            <a:prstDash val="solid"/>
          </a:ln>
        </p:spPr>
      </p:sp>
      <p:sp>
        <p:nvSpPr>
          <p:cNvPr id="21" name="Text 19"/>
          <p:cNvSpPr txBox="1"/>
          <p:nvPr/>
        </p:nvSpPr>
        <p:spPr>
          <a:xfrm>
            <a:off x="548640" y="2816352"/>
            <a:ext cx="2377440" cy="685800"/>
          </a:xfrm>
          <a:prstGeom prst="rect">
            <a:avLst/>
          </a:prstGeom>
          <a:noFill/>
          <a:ln/>
        </p:spPr>
        <p:txBody>
          <a:bodyPr wrap="square" lIns="0" tIns="0" rIns="0" bIns="0" rtlCol="0" anchor="ctr"/>
          <a:lstStyle/>
          <a:p>
            <a:pPr algn="l" indent="0" marL="0">
              <a:buNone/>
            </a:pPr>
            <a:r>
              <a:rPr lang="en-US" sz="2600" b="1" dirty="0">
                <a:solidFill>
                  <a:schemeClr val="accent1"/>
                </a:solidFill>
                <a:latin typeface="Cambria" pitchFamily="34" charset="0"/>
                <a:ea typeface="Cambria" pitchFamily="34" charset="-122"/>
                <a:cs typeface="Cambria" pitchFamily="34" charset="-120"/>
              </a:rPr>
              <a:t>Por qué 2D</a:t>
            </a:r>
            <a:endParaRPr lang="en-US" sz="2600" dirty="0"/>
          </a:p>
        </p:txBody>
      </p:sp>
      <p:sp>
        <p:nvSpPr>
          <p:cNvPr id="22" name="Text 20"/>
          <p:cNvSpPr txBox="1"/>
          <p:nvPr/>
        </p:nvSpPr>
        <p:spPr>
          <a:xfrm>
            <a:off x="548640" y="3429000"/>
            <a:ext cx="2377440" cy="630936"/>
          </a:xfrm>
          <a:prstGeom prst="rect">
            <a:avLst/>
          </a:prstGeom>
          <a:noFill/>
          <a:ln/>
        </p:spPr>
        <p:txBody>
          <a:bodyPr wrap="square" lIns="0" tIns="0" rIns="0" bIns="0" rtlCol="0" anchor="t"/>
          <a:lstStyle/>
          <a:p>
            <a:pPr algn="l" indent="0" marL="0">
              <a:buNone/>
            </a:pPr>
            <a:r>
              <a:rPr lang="en-US" sz="1300" dirty="0">
                <a:solidFill>
                  <a:schemeClr val="tx1"/>
                </a:solidFill>
              </a:rPr>
              <a:t>reutiliza pesos de ImageNet sin reescribirlos para 3D</a:t>
            </a:r>
            <a:endParaRPr lang="en-US" sz="1300" dirty="0"/>
          </a:p>
        </p:txBody>
      </p:sp>
      <p:sp>
        <p:nvSpPr>
          <p:cNvPr id="23" name="card"/>
          <p:cNvSpPr/>
          <p:nvPr/>
        </p:nvSpPr>
        <p:spPr>
          <a:xfrm>
            <a:off x="3291840" y="2743200"/>
            <a:ext cx="2560320" cy="1371600"/>
          </a:xfrm>
          <a:prstGeom prst="roundRect">
            <a:avLst>
              <a:gd name="adj" fmla="val 5333"/>
            </a:avLst>
          </a:prstGeom>
          <a:solidFill>
            <a:schemeClr val="bg2"/>
          </a:solidFill>
          <a:ln w="12700">
            <a:solidFill>
              <a:schemeClr val="bg2"/>
            </a:solidFill>
            <a:prstDash val="solid"/>
          </a:ln>
        </p:spPr>
      </p:sp>
      <p:sp>
        <p:nvSpPr>
          <p:cNvPr id="24" name="Text 22"/>
          <p:cNvSpPr txBox="1"/>
          <p:nvPr/>
        </p:nvSpPr>
        <p:spPr>
          <a:xfrm>
            <a:off x="3383280" y="2816352"/>
            <a:ext cx="2377440" cy="685800"/>
          </a:xfrm>
          <a:prstGeom prst="rect">
            <a:avLst/>
          </a:prstGeom>
          <a:noFill/>
          <a:ln/>
        </p:spPr>
        <p:txBody>
          <a:bodyPr wrap="square" lIns="0" tIns="0" rIns="0" bIns="0" rtlCol="0" anchor="ctr"/>
          <a:lstStyle/>
          <a:p>
            <a:pPr algn="l" indent="0" marL="0">
              <a:buNone/>
            </a:pPr>
            <a:r>
              <a:rPr lang="en-US" sz="2600" b="1" dirty="0">
                <a:solidFill>
                  <a:schemeClr val="accent2"/>
                </a:solidFill>
                <a:latin typeface="Cambria" pitchFamily="34" charset="0"/>
                <a:ea typeface="Cambria" pitchFamily="34" charset="-122"/>
                <a:cs typeface="Cambria" pitchFamily="34" charset="-120"/>
              </a:rPr>
              <a:t>BatchNorm</a:t>
            </a:r>
            <a:endParaRPr lang="en-US" sz="2600" dirty="0"/>
          </a:p>
        </p:txBody>
      </p:sp>
      <p:sp>
        <p:nvSpPr>
          <p:cNvPr id="25" name="Text 23"/>
          <p:cNvSpPr txBox="1"/>
          <p:nvPr/>
        </p:nvSpPr>
        <p:spPr>
          <a:xfrm>
            <a:off x="3383280" y="3429000"/>
            <a:ext cx="2377440" cy="630936"/>
          </a:xfrm>
          <a:prstGeom prst="rect">
            <a:avLst/>
          </a:prstGeom>
          <a:noFill/>
          <a:ln/>
        </p:spPr>
        <p:txBody>
          <a:bodyPr wrap="square" lIns="0" tIns="0" rIns="0" bIns="0" rtlCol="0" anchor="t"/>
          <a:lstStyle/>
          <a:p>
            <a:pPr algn="l" indent="0" marL="0">
              <a:buNone/>
            </a:pPr>
            <a:r>
              <a:rPr lang="en-US" sz="1300" dirty="0">
                <a:solidFill>
                  <a:schemeClr val="tx1"/>
                </a:solidFill>
              </a:rPr>
              <a:t>congelada: lote de 2 × 16 cortes de 2 pacientes no da estadísticas representativas</a:t>
            </a:r>
            <a:endParaRPr lang="en-US" sz="1300" dirty="0"/>
          </a:p>
        </p:txBody>
      </p:sp>
      <p:sp>
        <p:nvSpPr>
          <p:cNvPr id="26" name="card"/>
          <p:cNvSpPr/>
          <p:nvPr/>
        </p:nvSpPr>
        <p:spPr>
          <a:xfrm>
            <a:off x="6126480" y="2743200"/>
            <a:ext cx="2560320" cy="1371600"/>
          </a:xfrm>
          <a:prstGeom prst="roundRect">
            <a:avLst>
              <a:gd name="adj" fmla="val 5333"/>
            </a:avLst>
          </a:prstGeom>
          <a:solidFill>
            <a:schemeClr val="bg2"/>
          </a:solidFill>
          <a:ln w="12700">
            <a:solidFill>
              <a:schemeClr val="bg2"/>
            </a:solidFill>
            <a:prstDash val="solid"/>
          </a:ln>
        </p:spPr>
      </p:sp>
      <p:sp>
        <p:nvSpPr>
          <p:cNvPr id="27" name="Text 25"/>
          <p:cNvSpPr txBox="1"/>
          <p:nvPr/>
        </p:nvSpPr>
        <p:spPr>
          <a:xfrm>
            <a:off x="6217920" y="2816352"/>
            <a:ext cx="2377440" cy="685800"/>
          </a:xfrm>
          <a:prstGeom prst="rect">
            <a:avLst/>
          </a:prstGeom>
          <a:noFill/>
          <a:ln/>
        </p:spPr>
        <p:txBody>
          <a:bodyPr wrap="square" lIns="0" tIns="0" rIns="0" bIns="0" rtlCol="0" anchor="ctr"/>
          <a:lstStyle/>
          <a:p>
            <a:pPr algn="l" indent="0" marL="0">
              <a:buNone/>
            </a:pPr>
            <a:r>
              <a:rPr lang="en-US" sz="2600" b="1" dirty="0">
                <a:solidFill>
                  <a:schemeClr val="accent4"/>
                </a:solidFill>
                <a:latin typeface="Cambria" pitchFamily="34" charset="0"/>
                <a:ea typeface="Cambria" pitchFamily="34" charset="-122"/>
                <a:cs typeface="Cambria" pitchFamily="34" charset="-120"/>
              </a:rPr>
              <a:t>Dominio</a:t>
            </a:r>
            <a:endParaRPr lang="en-US" sz="2600" dirty="0"/>
          </a:p>
        </p:txBody>
      </p:sp>
      <p:sp>
        <p:nvSpPr>
          <p:cNvPr id="28" name="Text 26"/>
          <p:cNvSpPr txBox="1"/>
          <p:nvPr/>
        </p:nvSpPr>
        <p:spPr>
          <a:xfrm>
            <a:off x="6217920" y="3429000"/>
            <a:ext cx="2377440" cy="630936"/>
          </a:xfrm>
          <a:prstGeom prst="rect">
            <a:avLst/>
          </a:prstGeom>
          <a:noFill/>
          <a:ln/>
        </p:spPr>
        <p:txBody>
          <a:bodyPr wrap="square" lIns="0" tIns="0" rIns="0" bIns="0" rtlCol="0" anchor="t"/>
          <a:lstStyle/>
          <a:p>
            <a:pPr algn="l" indent="0" marL="0">
              <a:buNone/>
            </a:pPr>
            <a:r>
              <a:rPr lang="en-US" sz="1300" dirty="0">
                <a:solidFill>
                  <a:schemeClr val="tx1"/>
                </a:solidFill>
              </a:rPr>
              <a:t>brecha: ImageNet son fotos a color; aquí, cortes de TC en gris</a:t>
            </a:r>
            <a:endParaRPr lang="en-US" sz="13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P3 · Fine-tuning supera a feature extraction y al modelo base</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03120"/>
                <a:gridCol w="1280160"/>
                <a:gridCol w="1188720"/>
                <a:gridCol w="1280160"/>
                <a:gridCol w="822960"/>
                <a:gridCol w="1554480"/>
              </a:tblGrid>
              <a:tr h="384048">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Modelo</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Entrenables</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Tasa de aprend.</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Exactitud val.</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Aciertos</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r>
              <a:tr h="384048">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Base desde cero (a)</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2 450 721</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1e-4</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0,700</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0,743</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21/30</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84048">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Feature extraction</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2 049</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1e-3</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0,867</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0,867</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26/30</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84048">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Fine-tuning (último bloque)</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14 955 521</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1e-4</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b="1" dirty="0">
                          <a:solidFill>
                            <a:schemeClr val="accent1"/>
                          </a:solidFill>
                          <a:latin typeface="Calibri" pitchFamily="34" charset="0"/>
                          <a:ea typeface="Calibri" pitchFamily="34" charset="-122"/>
                          <a:cs typeface="Calibri" pitchFamily="34" charset="-120"/>
                        </a:rPr>
                        <a:t>0,967</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b="1" dirty="0">
                          <a:solidFill>
                            <a:schemeClr val="accent1"/>
                          </a:solidFill>
                          <a:latin typeface="Calibri" pitchFamily="34" charset="0"/>
                          <a:ea typeface="Calibri" pitchFamily="34" charset="-122"/>
                          <a:cs typeface="Calibri" pitchFamily="34" charset="-120"/>
                        </a:rPr>
                        <a:t>0,966</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b="1" dirty="0">
                          <a:solidFill>
                            <a:schemeClr val="accent1"/>
                          </a:solidFill>
                          <a:latin typeface="Calibri" pitchFamily="34" charset="0"/>
                          <a:ea typeface="Calibri" pitchFamily="34" charset="-122"/>
                          <a:cs typeface="Calibri" pitchFamily="34" charset="-120"/>
                        </a:rPr>
                        <a:t>29/30</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pic>
        <p:nvPicPr>
          <p:cNvPr id="4" name="curvas FE" descr="/tmp/claude-0/-home-claude/425f3a39-706f-51da-b436-22a5370c437b/scratchpad/deck/fe.png">    </p:cNvPr>
          <p:cNvPicPr>
            <a:picLocks noChangeAspect="1"/>
          </p:cNvPicPr>
          <p:nvPr/>
        </p:nvPicPr>
        <p:blipFill>
          <a:blip r:embed="rId1"/>
          <a:stretch>
            <a:fillRect/>
          </a:stretch>
        </p:blipFill>
        <p:spPr>
          <a:xfrm>
            <a:off x="457200" y="2834640"/>
            <a:ext cx="3108960" cy="996696"/>
          </a:xfrm>
          <a:prstGeom prst="rect">
            <a:avLst/>
          </a:prstGeom>
        </p:spPr>
      </p:pic>
      <p:sp>
        <p:nvSpPr>
          <p:cNvPr id="5" name="Text 1"/>
          <p:cNvSpPr txBox="1"/>
          <p:nvPr/>
        </p:nvSpPr>
        <p:spPr>
          <a:xfrm>
            <a:off x="457200" y="3840480"/>
            <a:ext cx="3108960" cy="274320"/>
          </a:xfrm>
          <a:prstGeom prst="rect">
            <a:avLst/>
          </a:prstGeom>
          <a:noFill/>
          <a:ln/>
        </p:spPr>
        <p:txBody>
          <a:bodyPr wrap="square" lIns="0" tIns="0" rIns="0" bIns="0" rtlCol="0" anchor="ctr"/>
          <a:lstStyle/>
          <a:p>
            <a:pPr indent="0" marL="0">
              <a:buNone/>
            </a:pPr>
            <a:r>
              <a:rPr lang="en-US" sz="1200" dirty="0">
                <a:solidFill>
                  <a:schemeClr val="accent3"/>
                </a:solidFill>
              </a:rPr>
              <a:t>Feature extraction</a:t>
            </a:r>
            <a:endParaRPr lang="en-US" sz="1200" dirty="0"/>
          </a:p>
        </p:txBody>
      </p:sp>
      <p:pic>
        <p:nvPicPr>
          <p:cNvPr id="6" name="curvas FT" descr="/tmp/claude-0/-home-claude/425f3a39-706f-51da-b436-22a5370c437b/scratchpad/deck/ft.png">    </p:cNvPr>
          <p:cNvPicPr>
            <a:picLocks noChangeAspect="1"/>
          </p:cNvPicPr>
          <p:nvPr/>
        </p:nvPicPr>
        <p:blipFill>
          <a:blip r:embed="rId2"/>
          <a:stretch>
            <a:fillRect/>
          </a:stretch>
        </p:blipFill>
        <p:spPr>
          <a:xfrm>
            <a:off x="3749040" y="2834640"/>
            <a:ext cx="3108960" cy="996696"/>
          </a:xfrm>
          <a:prstGeom prst="rect">
            <a:avLst/>
          </a:prstGeom>
        </p:spPr>
      </p:pic>
      <p:sp>
        <p:nvSpPr>
          <p:cNvPr id="7" name="Text 2"/>
          <p:cNvSpPr txBox="1"/>
          <p:nvPr/>
        </p:nvSpPr>
        <p:spPr>
          <a:xfrm>
            <a:off x="3749040" y="3840480"/>
            <a:ext cx="3108960" cy="274320"/>
          </a:xfrm>
          <a:prstGeom prst="rect">
            <a:avLst/>
          </a:prstGeom>
          <a:noFill/>
          <a:ln/>
        </p:spPr>
        <p:txBody>
          <a:bodyPr wrap="square" lIns="0" tIns="0" rIns="0" bIns="0" rtlCol="0" anchor="ctr"/>
          <a:lstStyle/>
          <a:p>
            <a:pPr indent="0" marL="0">
              <a:buNone/>
            </a:pPr>
            <a:r>
              <a:rPr lang="en-US" sz="1200" dirty="0">
                <a:solidFill>
                  <a:schemeClr val="accent3"/>
                </a:solidFill>
              </a:rPr>
              <a:t>Fine-tuning (último bloque)</a:t>
            </a:r>
            <a:endParaRPr lang="en-US" sz="1200" dirty="0"/>
          </a:p>
        </p:txBody>
      </p:sp>
      <p:sp>
        <p:nvSpPr>
          <p:cNvPr id="8" name="Text 3"/>
          <p:cNvSpPr txBox="1"/>
          <p:nvPr/>
        </p:nvSpPr>
        <p:spPr>
          <a:xfrm>
            <a:off x="7040880" y="2834640"/>
            <a:ext cx="1645920" cy="1280160"/>
          </a:xfrm>
          <a:prstGeom prst="rect">
            <a:avLst/>
          </a:prstGeom>
          <a:noFill/>
          <a:ln/>
        </p:spPr>
        <p:txBody>
          <a:bodyPr wrap="square" lIns="0" tIns="0" rIns="0" bIns="0" rtlCol="0" anchor="t"/>
          <a:lstStyle/>
          <a:p>
            <a:pPr indent="0" marL="0">
              <a:buNone/>
            </a:pPr>
            <a:r>
              <a:rPr lang="en-US" sz="1200" dirty="0">
                <a:solidFill>
                  <a:schemeClr val="accent4"/>
                </a:solidFill>
              </a:rPr>
              <a:t>Reserva: una corrida; mejor época elegida con el mismo conjunto de prueba → 0,967 es optimista.</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P4 · Grad-CAM: el calor se reparte sin foco clínico</a:t>
            </a:r>
            <a:endParaRPr lang="en-US" sz="2400" dirty="0"/>
          </a:p>
        </p:txBody>
      </p:sp>
      <p:pic>
        <p:nvPicPr>
          <p:cNvPr id="3" name="Grad-CAM" descr="/tmp/claude-0/-home-claude/425f3a39-706f-51da-b436-22a5370c437b/scratchpad/deck/gradcam.png">    </p:cNvPr>
          <p:cNvPicPr>
            <a:picLocks noChangeAspect="1"/>
          </p:cNvPicPr>
          <p:nvPr/>
        </p:nvPicPr>
        <p:blipFill>
          <a:blip r:embed="rId1"/>
          <a:stretch>
            <a:fillRect/>
          </a:stretch>
        </p:blipFill>
        <p:spPr>
          <a:xfrm>
            <a:off x="6035040" y="868680"/>
            <a:ext cx="2834640" cy="3831336"/>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5303520" cy="914400"/>
        </p:xfrm>
        <a:graphic>
          <a:graphicData uri="http://schemas.openxmlformats.org/drawingml/2006/table">
            <a:tbl>
              <a:tblPr/>
              <a:tblGrid>
                <a:gridCol w="2743200"/>
                <a:gridCol w="731520"/>
                <a:gridCol w="1828800"/>
              </a:tblGrid>
              <a:tr h="365760">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Caso</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Prob.</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Calor en borde</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r>
              <a:tr h="36576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Acierto anormal (caso 5)</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0,99</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11 %</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6576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Acierto normal (caso 13)</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0,15</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52 %</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6576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Falso positivo (caso 11)</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accent4"/>
                          </a:solidFill>
                          <a:latin typeface="Calibri" pitchFamily="34" charset="0"/>
                          <a:ea typeface="Calibri" pitchFamily="34" charset="-122"/>
                          <a:cs typeface="Calibri" pitchFamily="34" charset="-120"/>
                        </a:rPr>
                        <a:t>0,88</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46 %</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6576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Falso positivo (caso 2)</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accent4"/>
                          </a:solidFill>
                          <a:latin typeface="Calibri" pitchFamily="34" charset="0"/>
                          <a:ea typeface="Calibri" pitchFamily="34" charset="-122"/>
                          <a:cs typeface="Calibri" pitchFamily="34" charset="-120"/>
                        </a:rPr>
                        <a:t>0,77</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52 %</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5" name="Text 1"/>
          <p:cNvSpPr txBox="1"/>
          <p:nvPr/>
        </p:nvSpPr>
        <p:spPr>
          <a:xfrm>
            <a:off x="457200" y="3063240"/>
            <a:ext cx="5303520" cy="137160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rPr>
              <a:t>El borde ocupa ≈51 % del área: </a:t>
            </a:r>
            <a:pPr indent="0" marL="0">
              <a:spcAft>
                <a:spcPts val="800"/>
              </a:spcAft>
              <a:buNone/>
            </a:pPr>
            <a:r>
              <a:rPr lang="en-US" sz="1500" dirty="0">
                <a:solidFill>
                  <a:schemeClr val="tx1"/>
                </a:solidFill>
              </a:rPr>
              <a:t>52 % de calor no prueba sesgo a los bordes; indica calor sin foco.</a:t>
            </a:r>
            <a:endParaRPr lang="en-US" sz="1500" dirty="0"/>
          </a:p>
          <a:p>
            <a:pPr indent="0" marL="0">
              <a:spcAft>
                <a:spcPts val="800"/>
              </a:spcAft>
              <a:buNone/>
            </a:pPr>
            <a:r>
              <a:rPr lang="en-US" sz="1500" b="1" dirty="0">
                <a:solidFill>
                  <a:schemeClr val="tx1"/>
                </a:solidFill>
              </a:rPr>
              <a:t>Limitación: </a:t>
            </a:r>
            <a:pPr indent="0" marL="0">
              <a:spcAft>
                <a:spcPts val="800"/>
              </a:spcAft>
              <a:buNone/>
            </a:pPr>
            <a:r>
              <a:rPr lang="en-US" sz="1500" dirty="0">
                <a:solidFill>
                  <a:schemeClr val="tx1"/>
                </a:solidFill>
              </a:rPr>
              <a:t>no se aplicó al mejor modelo (fine-tuning).</a:t>
            </a:r>
            <a:endParaRPr lang="en-US" sz="15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P5 · Con 30 casos, las diferencias son poco fiables</a:t>
            </a:r>
            <a:endParaRPr lang="en-US" sz="2400" dirty="0"/>
          </a:p>
        </p:txBody>
      </p:sp>
      <p:graphicFrame>
        <p:nvGraphicFramePr>
          <p:cNvPr id="3" name="Chart 0" descr=""/>
          <p:cNvGraphicFramePr/>
          <p:nvPr/>
        </p:nvGraphicFramePr>
        <p:xfrm>
          <a:off x="457200" y="1005840"/>
          <a:ext cx="420624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937760" y="1097280"/>
          <a:ext cx="3749040" cy="914400"/>
        </p:xfrm>
        <a:graphic>
          <a:graphicData uri="http://schemas.openxmlformats.org/drawingml/2006/table">
            <a:tbl>
              <a:tblPr/>
              <a:tblGrid>
                <a:gridCol w="1737360"/>
                <a:gridCol w="2011680"/>
              </a:tblGrid>
              <a:tr h="347472">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Modelo</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Intervalo 95 % (Wilson)</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r>
              <a:tr h="347472">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[0,521 – 0,833]</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47472">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GAP</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[0,488 – 0,808]</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47472">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Feature extraction</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[0,703 – 0,947]</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47472">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Fine-tuning</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[0,833 – 0,994]</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5" name="card"/>
          <p:cNvSpPr/>
          <p:nvPr/>
        </p:nvSpPr>
        <p:spPr>
          <a:xfrm>
            <a:off x="457200" y="3840480"/>
            <a:ext cx="4206240" cy="868680"/>
          </a:xfrm>
          <a:prstGeom prst="roundRect">
            <a:avLst>
              <a:gd name="adj" fmla="val 8421"/>
            </a:avLst>
          </a:prstGeom>
          <a:solidFill>
            <a:schemeClr val="bg2"/>
          </a:solidFill>
          <a:ln w="12700">
            <a:solidFill>
              <a:schemeClr val="bg2"/>
            </a:solidFill>
            <a:prstDash val="solid"/>
          </a:ln>
        </p:spPr>
      </p:sp>
      <p:sp>
        <p:nvSpPr>
          <p:cNvPr id="6" name="Text 2"/>
          <p:cNvSpPr txBox="1"/>
          <p:nvPr/>
        </p:nvSpPr>
        <p:spPr>
          <a:xfrm>
            <a:off x="548640" y="3913632"/>
            <a:ext cx="4023360" cy="434340"/>
          </a:xfrm>
          <a:prstGeom prst="rect">
            <a:avLst/>
          </a:prstGeom>
          <a:noFill/>
          <a:ln/>
        </p:spPr>
        <p:txBody>
          <a:bodyPr wrap="square" lIns="0" tIns="0" rIns="0" bIns="0" rtlCol="0" anchor="ctr"/>
          <a:lstStyle/>
          <a:p>
            <a:pPr algn="l" indent="0" marL="0">
              <a:buNone/>
            </a:pPr>
            <a:r>
              <a:rPr lang="en-US" sz="2600" b="1" dirty="0">
                <a:solidFill>
                  <a:schemeClr val="accent1"/>
                </a:solidFill>
                <a:latin typeface="Cambria" pitchFamily="34" charset="0"/>
                <a:ea typeface="Cambria" pitchFamily="34" charset="-122"/>
                <a:cs typeface="Cambria" pitchFamily="34" charset="-120"/>
              </a:rPr>
              <a:t>1 error = 3,3 pts</a:t>
            </a:r>
            <a:endParaRPr lang="en-US" sz="2600" dirty="0"/>
          </a:p>
        </p:txBody>
      </p:sp>
      <p:sp>
        <p:nvSpPr>
          <p:cNvPr id="7" name="Text 3"/>
          <p:cNvSpPr txBox="1"/>
          <p:nvPr/>
        </p:nvSpPr>
        <p:spPr>
          <a:xfrm>
            <a:off x="548640" y="4274820"/>
            <a:ext cx="4023360" cy="399593"/>
          </a:xfrm>
          <a:prstGeom prst="rect">
            <a:avLst/>
          </a:prstGeom>
          <a:noFill/>
          <a:ln/>
        </p:spPr>
        <p:txBody>
          <a:bodyPr wrap="square" lIns="0" tIns="0" rIns="0" bIns="0" rtlCol="0" anchor="t"/>
          <a:lstStyle/>
          <a:p>
            <a:pPr algn="l" indent="0" marL="0">
              <a:buNone/>
            </a:pPr>
            <a:r>
              <a:rPr lang="en-US" sz="1300" dirty="0">
                <a:solidFill>
                  <a:schemeClr val="tx1"/>
                </a:solidFill>
              </a:rPr>
              <a:t>con n = 30</a:t>
            </a:r>
            <a:endParaRPr lang="en-US" sz="1300" dirty="0"/>
          </a:p>
        </p:txBody>
      </p:sp>
      <p:sp>
        <p:nvSpPr>
          <p:cNvPr id="8" name="Text 4"/>
          <p:cNvSpPr txBox="1"/>
          <p:nvPr/>
        </p:nvSpPr>
        <p:spPr>
          <a:xfrm>
            <a:off x="4937760" y="3108960"/>
            <a:ext cx="3749040" cy="1554480"/>
          </a:xfrm>
          <a:prstGeom prst="rect">
            <a:avLst/>
          </a:prstGeom>
          <a:noFill/>
          <a:ln/>
        </p:spPr>
        <p:txBody>
          <a:bodyPr wrap="square" lIns="0" tIns="0" rIns="0" bIns="0" rtlCol="0" anchor="t"/>
          <a:lstStyle/>
          <a:p>
            <a:pPr indent="0" marL="0">
              <a:buNone/>
            </a:pPr>
            <a:r>
              <a:rPr lang="en-US" sz="1400" b="1" dirty="0">
                <a:solidFill>
                  <a:schemeClr val="tx1"/>
                </a:solidFill>
              </a:rPr>
              <a:t>BatchNorm con lote de 2: </a:t>
            </a:r>
            <a:pPr indent="0" marL="0">
              <a:buNone/>
            </a:pPr>
            <a:r>
              <a:rPr lang="en-US" sz="1400" dirty="0">
                <a:solidFill>
                  <a:schemeClr val="tx1"/>
                </a:solidFill>
              </a:rPr>
              <a:t>estadísticas ruidosas; medias móviles lentas en inferencia. Alternativa: normalización por grupos o por capa, o acumular gradientes.</a:t>
            </a:r>
            <a:endParaRPr lang="en-US" sz="14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P5 · Métrica clínica: sensibilidad y especificidad</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645920"/>
                <a:gridCol w="1371600"/>
                <a:gridCol w="1554480"/>
                <a:gridCol w="914400"/>
                <a:gridCol w="1371600"/>
                <a:gridCol w="1371600"/>
              </a:tblGrid>
              <a:tr h="384048">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Modelo</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Sensibilidad</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Especificidad</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AUC</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Falsos neg.</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Falsos pos.</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r>
              <a:tr h="384048">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0,87</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0,53</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0,85</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84048">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GAP</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0,93</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accent4"/>
                          </a:solidFill>
                          <a:latin typeface="Calibri" pitchFamily="34" charset="0"/>
                          <a:ea typeface="Calibri" pitchFamily="34" charset="-122"/>
                          <a:cs typeface="Calibri" pitchFamily="34" charset="-120"/>
                        </a:rPr>
                        <a:t>0,40</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0,71</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accent4"/>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84048">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Fine-tuning</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0,93</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b="1" dirty="0">
                          <a:solidFill>
                            <a:schemeClr val="accent1"/>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b="1" dirty="0">
                          <a:solidFill>
                            <a:schemeClr val="accent1"/>
                          </a:solidFill>
                          <a:latin typeface="Calibri" pitchFamily="34" charset="0"/>
                          <a:ea typeface="Calibri" pitchFamily="34" charset="-122"/>
                          <a:cs typeface="Calibri" pitchFamily="34" charset="-120"/>
                        </a:rPr>
                        <a:t>0,97</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4" name="card"/>
          <p:cNvSpPr/>
          <p:nvPr/>
        </p:nvSpPr>
        <p:spPr>
          <a:xfrm>
            <a:off x="457200" y="2926080"/>
            <a:ext cx="2560320" cy="1463040"/>
          </a:xfrm>
          <a:prstGeom prst="roundRect">
            <a:avLst>
              <a:gd name="adj" fmla="val 5000"/>
            </a:avLst>
          </a:prstGeom>
          <a:solidFill>
            <a:schemeClr val="bg2"/>
          </a:solidFill>
          <a:ln w="12700">
            <a:solidFill>
              <a:schemeClr val="bg2"/>
            </a:solidFill>
            <a:prstDash val="solid"/>
          </a:ln>
        </p:spPr>
      </p:sp>
      <p:sp>
        <p:nvSpPr>
          <p:cNvPr id="5" name="Text 2"/>
          <p:cNvSpPr txBox="1"/>
          <p:nvPr/>
        </p:nvSpPr>
        <p:spPr>
          <a:xfrm>
            <a:off x="548640" y="2999232"/>
            <a:ext cx="2377440" cy="731520"/>
          </a:xfrm>
          <a:prstGeom prst="rect">
            <a:avLst/>
          </a:prstGeom>
          <a:noFill/>
          <a:ln/>
        </p:spPr>
        <p:txBody>
          <a:bodyPr wrap="square" lIns="0" tIns="0" rIns="0" bIns="0" rtlCol="0" anchor="ctr"/>
          <a:lstStyle/>
          <a:p>
            <a:pPr algn="l" indent="0" marL="0">
              <a:buNone/>
            </a:pPr>
            <a:r>
              <a:rPr lang="en-US" sz="2600" b="1" dirty="0">
                <a:solidFill>
                  <a:schemeClr val="accent2"/>
                </a:solidFill>
                <a:latin typeface="Cambria" pitchFamily="34" charset="0"/>
                <a:ea typeface="Cambria" pitchFamily="34" charset="-122"/>
                <a:cs typeface="Cambria" pitchFamily="34" charset="-120"/>
              </a:rPr>
              <a:t>Tamizaje</a:t>
            </a:r>
            <a:endParaRPr lang="en-US" sz="2600" dirty="0"/>
          </a:p>
        </p:txBody>
      </p:sp>
      <p:sp>
        <p:nvSpPr>
          <p:cNvPr id="6" name="Text 3"/>
          <p:cNvSpPr txBox="1"/>
          <p:nvPr/>
        </p:nvSpPr>
        <p:spPr>
          <a:xfrm>
            <a:off x="548640" y="3657600"/>
            <a:ext cx="2377440" cy="672998"/>
          </a:xfrm>
          <a:prstGeom prst="rect">
            <a:avLst/>
          </a:prstGeom>
          <a:noFill/>
          <a:ln/>
        </p:spPr>
        <p:txBody>
          <a:bodyPr wrap="square" lIns="0" tIns="0" rIns="0" bIns="0" rtlCol="0" anchor="t"/>
          <a:lstStyle/>
          <a:p>
            <a:pPr algn="l" indent="0" marL="0">
              <a:buNone/>
            </a:pPr>
            <a:r>
              <a:rPr lang="en-US" sz="1300" dirty="0">
                <a:solidFill>
                  <a:schemeClr val="tx1"/>
                </a:solidFill>
              </a:rPr>
              <a:t>un falso negativo cuesta más que un falso positivo</a:t>
            </a:r>
            <a:endParaRPr lang="en-US" sz="1300" dirty="0"/>
          </a:p>
        </p:txBody>
      </p:sp>
      <p:sp>
        <p:nvSpPr>
          <p:cNvPr id="7" name="card"/>
          <p:cNvSpPr/>
          <p:nvPr/>
        </p:nvSpPr>
        <p:spPr>
          <a:xfrm>
            <a:off x="3291840" y="2926080"/>
            <a:ext cx="2560320" cy="1463040"/>
          </a:xfrm>
          <a:prstGeom prst="roundRect">
            <a:avLst>
              <a:gd name="adj" fmla="val 5000"/>
            </a:avLst>
          </a:prstGeom>
          <a:solidFill>
            <a:schemeClr val="bg2"/>
          </a:solidFill>
          <a:ln w="12700">
            <a:solidFill>
              <a:schemeClr val="bg2"/>
            </a:solidFill>
            <a:prstDash val="solid"/>
          </a:ln>
        </p:spPr>
      </p:sp>
      <p:sp>
        <p:nvSpPr>
          <p:cNvPr id="8" name="Text 5"/>
          <p:cNvSpPr txBox="1"/>
          <p:nvPr/>
        </p:nvSpPr>
        <p:spPr>
          <a:xfrm>
            <a:off x="3383280" y="2999232"/>
            <a:ext cx="2377440" cy="731520"/>
          </a:xfrm>
          <a:prstGeom prst="rect">
            <a:avLst/>
          </a:prstGeom>
          <a:noFill/>
          <a:ln/>
        </p:spPr>
        <p:txBody>
          <a:bodyPr wrap="square" lIns="0" tIns="0" rIns="0" bIns="0" rtlCol="0" anchor="ctr"/>
          <a:lstStyle/>
          <a:p>
            <a:pPr algn="l" indent="0" marL="0">
              <a:buNone/>
            </a:pPr>
            <a:r>
              <a:rPr lang="en-US" sz="2600" b="1" dirty="0">
                <a:solidFill>
                  <a:schemeClr val="accent4"/>
                </a:solidFill>
                <a:latin typeface="Cambria" pitchFamily="34" charset="0"/>
                <a:ea typeface="Cambria" pitchFamily="34" charset="-122"/>
                <a:cs typeface="Cambria" pitchFamily="34" charset="-120"/>
              </a:rPr>
              <a:t>Modo de fallo</a:t>
            </a:r>
            <a:endParaRPr lang="en-US" sz="2600" dirty="0"/>
          </a:p>
        </p:txBody>
      </p:sp>
      <p:sp>
        <p:nvSpPr>
          <p:cNvPr id="9" name="Text 6"/>
          <p:cNvSpPr txBox="1"/>
          <p:nvPr/>
        </p:nvSpPr>
        <p:spPr>
          <a:xfrm>
            <a:off x="3383280" y="3657600"/>
            <a:ext cx="2377440" cy="672998"/>
          </a:xfrm>
          <a:prstGeom prst="rect">
            <a:avLst/>
          </a:prstGeom>
          <a:noFill/>
          <a:ln/>
        </p:spPr>
        <p:txBody>
          <a:bodyPr wrap="square" lIns="0" tIns="0" rIns="0" bIns="0" rtlCol="0" anchor="t"/>
          <a:lstStyle/>
          <a:p>
            <a:pPr algn="l" indent="0" marL="0">
              <a:buNone/>
            </a:pPr>
            <a:r>
              <a:rPr lang="en-US" sz="1300" dirty="0">
                <a:solidFill>
                  <a:schemeClr val="tx1"/>
                </a:solidFill>
              </a:rPr>
              <a:t>falsos positivos de alta confianza apoyados en pared y fondo</a:t>
            </a:r>
            <a:endParaRPr lang="en-US" sz="1300" dirty="0"/>
          </a:p>
        </p:txBody>
      </p:sp>
      <p:sp>
        <p:nvSpPr>
          <p:cNvPr id="10" name="card"/>
          <p:cNvSpPr/>
          <p:nvPr/>
        </p:nvSpPr>
        <p:spPr>
          <a:xfrm>
            <a:off x="6126480" y="2926080"/>
            <a:ext cx="2560320" cy="1463040"/>
          </a:xfrm>
          <a:prstGeom prst="roundRect">
            <a:avLst>
              <a:gd name="adj" fmla="val 5000"/>
            </a:avLst>
          </a:prstGeom>
          <a:solidFill>
            <a:schemeClr val="bg2"/>
          </a:solidFill>
          <a:ln w="12700">
            <a:solidFill>
              <a:schemeClr val="bg2"/>
            </a:solidFill>
            <a:prstDash val="solid"/>
          </a:ln>
        </p:spPr>
      </p:sp>
      <p:sp>
        <p:nvSpPr>
          <p:cNvPr id="11" name="Text 8"/>
          <p:cNvSpPr txBox="1"/>
          <p:nvPr/>
        </p:nvSpPr>
        <p:spPr>
          <a:xfrm>
            <a:off x="6217920" y="2999232"/>
            <a:ext cx="2377440" cy="731520"/>
          </a:xfrm>
          <a:prstGeom prst="rect">
            <a:avLst/>
          </a:prstGeom>
          <a:noFill/>
          <a:ln/>
        </p:spPr>
        <p:txBody>
          <a:bodyPr wrap="square" lIns="0" tIns="0" rIns="0" bIns="0" rtlCol="0" anchor="ctr"/>
          <a:lstStyle/>
          <a:p>
            <a:pPr algn="l" indent="0" marL="0">
              <a:buNone/>
            </a:pPr>
            <a:r>
              <a:rPr lang="en-US" sz="2600" b="1" dirty="0">
                <a:solidFill>
                  <a:schemeClr val="accent1"/>
                </a:solidFill>
                <a:latin typeface="Cambria" pitchFamily="34" charset="0"/>
                <a:ea typeface="Cambria" pitchFamily="34" charset="-122"/>
                <a:cs typeface="Cambria" pitchFamily="34" charset="-120"/>
              </a:rPr>
              <a:t>Corrección</a:t>
            </a:r>
            <a:endParaRPr lang="en-US" sz="2600" dirty="0"/>
          </a:p>
        </p:txBody>
      </p:sp>
      <p:sp>
        <p:nvSpPr>
          <p:cNvPr id="12" name="Text 9"/>
          <p:cNvSpPr txBox="1"/>
          <p:nvPr/>
        </p:nvSpPr>
        <p:spPr>
          <a:xfrm>
            <a:off x="6217920" y="3657600"/>
            <a:ext cx="2377440" cy="672998"/>
          </a:xfrm>
          <a:prstGeom prst="rect">
            <a:avLst/>
          </a:prstGeom>
          <a:noFill/>
          <a:ln/>
        </p:spPr>
        <p:txBody>
          <a:bodyPr wrap="square" lIns="0" tIns="0" rIns="0" bIns="0" rtlCol="0" anchor="t"/>
          <a:lstStyle/>
          <a:p>
            <a:pPr algn="l" indent="0" marL="0">
              <a:buNone/>
            </a:pPr>
            <a:r>
              <a:rPr lang="en-US" sz="1300" dirty="0">
                <a:solidFill>
                  <a:schemeClr val="tx1"/>
                </a:solidFill>
              </a:rPr>
              <a:t>segmentar el pulmón (umbral + componentes conectados) y revisar con Grad-CAM</a:t>
            </a:r>
            <a:endParaRPr lang="en-US" sz="13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8046720" cy="118872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Cierre: qué no funcionó y uso de IA</a:t>
            </a:r>
            <a:endParaRPr lang="en-US" sz="3600" dirty="0"/>
          </a:p>
        </p:txBody>
      </p:sp>
      <p:sp>
        <p:nvSpPr>
          <p:cNvPr id="3" name="columna 1"/>
          <p:cNvSpPr/>
          <p:nvPr/>
        </p:nvSpPr>
        <p:spPr>
          <a:xfrm>
            <a:off x="548640" y="1828800"/>
            <a:ext cx="3840480" cy="2651760"/>
          </a:xfrm>
          <a:prstGeom prst="roundRect">
            <a:avLst>
              <a:gd name="adj" fmla="val 2759"/>
            </a:avLst>
          </a:prstGeom>
          <a:solidFill>
            <a:schemeClr val="accent1"/>
          </a:solidFill>
          <a:ln w="12700">
            <a:solidFill>
              <a:schemeClr val="accent1"/>
            </a:solidFill>
            <a:prstDash val="solid"/>
          </a:ln>
        </p:spPr>
      </p:sp>
      <p:sp>
        <p:nvSpPr>
          <p:cNvPr id="4" name="Text 2"/>
          <p:cNvSpPr txBox="1"/>
          <p:nvPr/>
        </p:nvSpPr>
        <p:spPr>
          <a:xfrm>
            <a:off x="731520" y="1920240"/>
            <a:ext cx="3474720" cy="45720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Lo que no funcionó</a:t>
            </a:r>
            <a:endParaRPr lang="en-US" sz="1800" dirty="0"/>
          </a:p>
        </p:txBody>
      </p:sp>
      <p:sp>
        <p:nvSpPr>
          <p:cNvPr id="5" name="Text 3"/>
          <p:cNvSpPr txBox="1"/>
          <p:nvPr/>
        </p:nvSpPr>
        <p:spPr>
          <a:xfrm>
            <a:off x="731520" y="2468880"/>
            <a:ext cx="347472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Residual (b): colapsó a 0,5</a:t>
            </a:r>
            <a:endParaRPr lang="en-US" sz="1400" dirty="0"/>
          </a:p>
          <a:p>
            <a:pPr marL="342900" indent="-342900">
              <a:spcAft>
                <a:spcPts val="800"/>
              </a:spcAft>
              <a:buSzPct val="100000"/>
              <a:buChar char="•"/>
            </a:pPr>
            <a:r>
              <a:rPr lang="en-US" sz="1400" dirty="0">
                <a:solidFill>
                  <a:schemeClr val="bg1"/>
                </a:solidFill>
              </a:rPr>
              <a:t>Solo 10 épocas: GAP quedó corto</a:t>
            </a:r>
            <a:endParaRPr lang="en-US" sz="1400" dirty="0"/>
          </a:p>
          <a:p>
            <a:pPr marL="342900" indent="-342900">
              <a:spcAft>
                <a:spcPts val="800"/>
              </a:spcAft>
              <a:buSzPct val="100000"/>
              <a:buChar char="•"/>
            </a:pPr>
            <a:r>
              <a:rPr lang="en-US" sz="1400" dirty="0">
                <a:solidFill>
                  <a:schemeClr val="bg1"/>
                </a:solidFill>
              </a:rPr>
              <a:t>Grad-CAM no aplicado al mejor modelo</a:t>
            </a:r>
            <a:endParaRPr lang="en-US" sz="1400" dirty="0"/>
          </a:p>
        </p:txBody>
      </p:sp>
      <p:sp>
        <p:nvSpPr>
          <p:cNvPr id="6" name="columna 2"/>
          <p:cNvSpPr/>
          <p:nvPr/>
        </p:nvSpPr>
        <p:spPr>
          <a:xfrm>
            <a:off x="4663440" y="1828800"/>
            <a:ext cx="3840480" cy="2651760"/>
          </a:xfrm>
          <a:prstGeom prst="roundRect">
            <a:avLst>
              <a:gd name="adj" fmla="val 2759"/>
            </a:avLst>
          </a:prstGeom>
          <a:solidFill>
            <a:schemeClr val="accent1"/>
          </a:solidFill>
          <a:ln w="12700">
            <a:solidFill>
              <a:schemeClr val="accent1"/>
            </a:solidFill>
            <a:prstDash val="solid"/>
          </a:ln>
        </p:spPr>
      </p:sp>
      <p:sp>
        <p:nvSpPr>
          <p:cNvPr id="7" name="Text 5"/>
          <p:cNvSpPr txBox="1"/>
          <p:nvPr/>
        </p:nvSpPr>
        <p:spPr>
          <a:xfrm>
            <a:off x="4846320" y="1920240"/>
            <a:ext cx="3474720" cy="45720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Uso de IA</a:t>
            </a:r>
            <a:endParaRPr lang="en-US" sz="1800" dirty="0"/>
          </a:p>
        </p:txBody>
      </p:sp>
      <p:sp>
        <p:nvSpPr>
          <p:cNvPr id="8" name="Text 6"/>
          <p:cNvSpPr txBox="1"/>
          <p:nvPr/>
        </p:nvSpPr>
        <p:spPr>
          <a:xfrm>
            <a:off x="4846320" y="2468880"/>
            <a:ext cx="347472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Claude: código, depuración y borradores</a:t>
            </a:r>
            <a:endParaRPr lang="en-US" sz="1400" dirty="0"/>
          </a:p>
          <a:p>
            <a:pPr marL="342900" indent="-342900">
              <a:spcAft>
                <a:spcPts val="800"/>
              </a:spcAft>
              <a:buSzPct val="100000"/>
              <a:buChar char="•"/>
            </a:pPr>
            <a:r>
              <a:rPr lang="en-US" sz="1400" dirty="0">
                <a:solidFill>
                  <a:schemeClr val="bg1"/>
                </a:solidFill>
              </a:rPr>
              <a:t>Ejecución y decisiones propias</a:t>
            </a:r>
            <a:endParaRPr lang="en-US" sz="1400" dirty="0"/>
          </a:p>
          <a:p>
            <a:pPr marL="342900" indent="-342900">
              <a:spcAft>
                <a:spcPts val="800"/>
              </a:spcAft>
              <a:buSzPct val="100000"/>
              <a:buChar char="•"/>
            </a:pPr>
            <a:r>
              <a:rPr lang="en-US" sz="1400" dirty="0">
                <a:solidFill>
                  <a:schemeClr val="bg1"/>
                </a:solidFill>
              </a:rPr>
              <a:t>Conclusión: el fine-tuning fue lo único que superó claramente a los modelos desde cero</a:t>
            </a:r>
            <a:endParaRPr lang="en-US" sz="1400" dirty="0"/>
          </a:p>
        </p:txBody>
      </p:sp>
    </p:spTree>
  </p:cSld>
  <p:clrMapOvr>
    <a:masterClrMapping/>
  </p:clrMapOvr>
</p:sld>
</file>

<file path=ppt/theme/theme1.xml><?xml version="1.0" encoding="utf-8"?>
<a:theme xmlns:a="http://schemas.openxmlformats.org/drawingml/2006/main" name="INF659">
  <a:themeElements>
    <a:clrScheme name="INF659">
      <a:dk1>
        <a:srgbClr val="1B2A3A"/>
      </a:dk1>
      <a:lt1>
        <a:srgbClr val="FFFFFF"/>
      </a:lt1>
      <a:dk2>
        <a:srgbClr val="0E3B43"/>
      </a:dk2>
      <a:lt2>
        <a:srgbClr val="EEF3F4"/>
      </a:lt2>
      <a:accent1>
        <a:srgbClr val="0F766E"/>
      </a:accent1>
      <a:accent2>
        <a:srgbClr val="C2410C"/>
      </a:accent2>
      <a:accent3>
        <a:srgbClr val="64748B"/>
      </a:accent3>
      <a:accent4>
        <a:srgbClr val="B91C1C"/>
      </a:accent4>
      <a:accent5>
        <a:srgbClr val="1D4ED8"/>
      </a:accent5>
      <a:accent6>
        <a:srgbClr val="CA8A04"/>
      </a:accent6>
      <a:hlink>
        <a:srgbClr val="0F766E"/>
      </a:hlink>
      <a:folHlink>
        <a:srgbClr val="64748B"/>
      </a:folHlink>
    </a:clrScheme>
    <a:fontScheme name="INF659">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Examen Parcial INF659</dc:title>
  <dc:subject>PptxGenJS Presentation</dc:subject>
  <dc:creator>Jorge Chamorro</dc:creator>
  <cp:lastModifiedBy>Jorge Chamorro</cp:lastModifiedBy>
  <cp:revision>1</cp:revision>
  <dcterms:created xsi:type="dcterms:W3CDTF">2026-10-07T03:50:47Z</dcterms:created>
  <dcterms:modified xsi:type="dcterms:W3CDTF">2026-10-07T03:50:47Z</dcterms:modified>
</cp:coreProperties>
</file>