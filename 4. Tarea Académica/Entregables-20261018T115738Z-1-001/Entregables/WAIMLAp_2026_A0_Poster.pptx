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42803750" cx="302752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7" roundtripDataSignature="AMtx7mgrbWMagqP3wI/xHCyUUvAbJc+/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30275784" cy="4500000"/>
          </a:xfrm>
          <a:prstGeom prst="rect">
            <a:avLst/>
          </a:prstGeom>
          <a:solidFill>
            <a:srgbClr val="4B2A82"/>
          </a:solidFill>
          <a:ln cap="flat" cmpd="sng" w="9525">
            <a:solidFill>
              <a:srgbClr val="4B2A8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5154207" y="689700"/>
            <a:ext cx="19966798" cy="769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Workshop on Artificial Intelligence and Machine Learning Applications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3401150" y="1885575"/>
            <a:ext cx="234729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FFFFFF"/>
                </a:solidFill>
              </a:rPr>
              <a:t>Does self-supervised pretraining help detect deforestation in a new country? Transferring frozen DINOv3 vs. a supervised U-Net from Brazil to the Peruvian Amazon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9672950" y="3261350"/>
            <a:ext cx="10929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</a:rPr>
              <a:t>Christian Carhuancho</a:t>
            </a: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¹  •  </a:t>
            </a:r>
            <a:r>
              <a:rPr b="1" lang="en-US" sz="2400">
                <a:solidFill>
                  <a:srgbClr val="FFFFFF"/>
                </a:solidFill>
              </a:rPr>
              <a:t>Jorge Chamorro</a:t>
            </a:r>
            <a:r>
              <a:rPr b="1" lang="en-US" sz="2400">
                <a:solidFill>
                  <a:schemeClr val="lt1"/>
                </a:solidFill>
              </a:rPr>
              <a:t>¹</a:t>
            </a: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•  </a:t>
            </a:r>
            <a:r>
              <a:rPr b="1" lang="en-US" sz="2400">
                <a:solidFill>
                  <a:srgbClr val="FFFFFF"/>
                </a:solidFill>
              </a:rPr>
              <a:t>Jorge Fatama</a:t>
            </a: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¹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¹</a:t>
            </a:r>
            <a:r>
              <a:rPr lang="en-US" sz="1600">
                <a:solidFill>
                  <a:srgbClr val="FFFFFF"/>
                </a:solidFill>
              </a:rPr>
              <a:t>Pontificia Universidad Catolica del Peru, Lima, Peru</a:t>
            </a: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1097280" y="4739640"/>
            <a:ext cx="28072080" cy="1325880"/>
          </a:xfrm>
          <a:prstGeom prst="roundRect">
            <a:avLst>
              <a:gd fmla="val 16667" name="adj"/>
            </a:avLst>
          </a:prstGeom>
          <a:solidFill>
            <a:srgbClr val="F5F3F9"/>
          </a:solidFill>
          <a:ln cap="flat" cmpd="sng" w="9525">
            <a:solidFill>
              <a:srgbClr val="E6E1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4646E"/>
                </a:solidFill>
                <a:latin typeface="Arial"/>
                <a:ea typeface="Arial"/>
                <a:cs typeface="Arial"/>
                <a:sym typeface="Arial"/>
              </a:rPr>
              <a:t>[AUTHOR / PROJECT / INSTITUTION LOGOS — place official logos here]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1097280" y="6568440"/>
            <a:ext cx="13738860" cy="5486400"/>
          </a:xfrm>
          <a:prstGeom prst="roundRect">
            <a:avLst>
              <a:gd fmla="val 16667" name="adj"/>
            </a:avLst>
          </a:prstGeom>
          <a:solidFill>
            <a:srgbClr val="FAF9FC"/>
          </a:solidFill>
          <a:ln cap="flat" cmpd="sng" w="9525">
            <a:solidFill>
              <a:srgbClr val="E6E1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1097280" y="6568440"/>
            <a:ext cx="13738860" cy="658368"/>
          </a:xfrm>
          <a:prstGeom prst="rect">
            <a:avLst/>
          </a:prstGeom>
          <a:solidFill>
            <a:srgbClr val="4B2A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417319" y="6641592"/>
            <a:ext cx="675332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MOTIVATION &amp; RESEARCH PROBLEM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1508760" y="7437119"/>
            <a:ext cx="1291590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  <a:t>• What problem are you addressing?</a:t>
            </a:r>
            <a:b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  <a:t>• Why does it matter?</a:t>
            </a:r>
            <a:b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  <a:t>• What gap, challenge, or opportunity motivates the work?</a:t>
            </a:r>
            <a:b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  <a:t>• State the research objective or question clearly.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15430500" y="6568440"/>
            <a:ext cx="13738860" cy="5486400"/>
          </a:xfrm>
          <a:prstGeom prst="roundRect">
            <a:avLst>
              <a:gd fmla="val 16667" name="adj"/>
            </a:avLst>
          </a:prstGeom>
          <a:solidFill>
            <a:srgbClr val="FAF9FC"/>
          </a:solidFill>
          <a:ln cap="flat" cmpd="sng" w="9525">
            <a:solidFill>
              <a:srgbClr val="E6E1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5430500" y="6568440"/>
            <a:ext cx="13738860" cy="658368"/>
          </a:xfrm>
          <a:prstGeom prst="rect">
            <a:avLst/>
          </a:prstGeom>
          <a:solidFill>
            <a:srgbClr val="4B2A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5750540" y="6641592"/>
            <a:ext cx="550984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OBJECTIVES / CONTRIBUTION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15841980" y="7437119"/>
            <a:ext cx="1291590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  <a:t>• Main objective</a:t>
            </a:r>
            <a:b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  <a:t>• Specific objective(s), if needed</a:t>
            </a:r>
            <a:b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  <a:t>• What is new, useful, or worth discussing?</a:t>
            </a:r>
            <a:b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  <a:t>Keep this section concise. The poster should invite conversation, not reproduce the abstract.</a:t>
            </a:r>
            <a:endParaRPr/>
          </a:p>
        </p:txBody>
      </p:sp>
      <p:sp>
        <p:nvSpPr>
          <p:cNvPr id="97" name="Google Shape;97;p1"/>
          <p:cNvSpPr/>
          <p:nvPr/>
        </p:nvSpPr>
        <p:spPr>
          <a:xfrm>
            <a:off x="1097280" y="12649200"/>
            <a:ext cx="13738860" cy="9326880"/>
          </a:xfrm>
          <a:prstGeom prst="roundRect">
            <a:avLst>
              <a:gd fmla="val 16667" name="adj"/>
            </a:avLst>
          </a:prstGeom>
          <a:solidFill>
            <a:srgbClr val="FAF9FC"/>
          </a:solidFill>
          <a:ln cap="flat" cmpd="sng" w="9525">
            <a:solidFill>
              <a:srgbClr val="E6E1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1097280" y="12649200"/>
            <a:ext cx="13738860" cy="658368"/>
          </a:xfrm>
          <a:prstGeom prst="rect">
            <a:avLst/>
          </a:prstGeom>
          <a:solidFill>
            <a:srgbClr val="4B2A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1417319" y="12722352"/>
            <a:ext cx="303640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1508760" y="13517880"/>
            <a:ext cx="1291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"/>
          <p:cNvSpPr/>
          <p:nvPr/>
        </p:nvSpPr>
        <p:spPr>
          <a:xfrm>
            <a:off x="15430500" y="12649200"/>
            <a:ext cx="13738860" cy="9326880"/>
          </a:xfrm>
          <a:prstGeom prst="roundRect">
            <a:avLst>
              <a:gd fmla="val 16667" name="adj"/>
            </a:avLst>
          </a:prstGeom>
          <a:solidFill>
            <a:srgbClr val="FAF9FC"/>
          </a:solidFill>
          <a:ln cap="flat" cmpd="sng" w="9525">
            <a:solidFill>
              <a:srgbClr val="E6E1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15430500" y="12649200"/>
            <a:ext cx="13738860" cy="658368"/>
          </a:xfrm>
          <a:prstGeom prst="rect">
            <a:avLst/>
          </a:prstGeom>
          <a:solidFill>
            <a:srgbClr val="4B2A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15750540" y="12722352"/>
            <a:ext cx="452457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RESULTS &amp; DISCUSSION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15841980" y="13517880"/>
            <a:ext cx="129159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  <a:t>Show the strongest evidence available.</a:t>
            </a:r>
            <a:b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  <a:t>[PLACE CHARTS / TABLES / QUALITATIVE RESULTS HERE]</a:t>
            </a:r>
            <a:b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  <a:t>Explain what the results mean. For work in progress, distinguish preliminary findings from planned experiments.</a:t>
            </a:r>
            <a:endParaRPr/>
          </a:p>
        </p:txBody>
      </p:sp>
      <p:sp>
        <p:nvSpPr>
          <p:cNvPr id="105" name="Google Shape;105;p1"/>
          <p:cNvSpPr/>
          <p:nvPr/>
        </p:nvSpPr>
        <p:spPr>
          <a:xfrm>
            <a:off x="1097280" y="22570440"/>
            <a:ext cx="13738860" cy="5760720"/>
          </a:xfrm>
          <a:prstGeom prst="roundRect">
            <a:avLst>
              <a:gd fmla="val 16667" name="adj"/>
            </a:avLst>
          </a:prstGeom>
          <a:solidFill>
            <a:srgbClr val="FAF9FC"/>
          </a:solidFill>
          <a:ln cap="flat" cmpd="sng" w="9525">
            <a:solidFill>
              <a:srgbClr val="E6E1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1097280" y="22570440"/>
            <a:ext cx="13738860" cy="658368"/>
          </a:xfrm>
          <a:prstGeom prst="rect">
            <a:avLst/>
          </a:prstGeom>
          <a:solidFill>
            <a:srgbClr val="4B2A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1417319" y="22643591"/>
            <a:ext cx="245932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CONCLUSIONS</a:t>
            </a:r>
            <a:endParaRPr/>
          </a:p>
        </p:txBody>
      </p:sp>
      <p:sp>
        <p:nvSpPr>
          <p:cNvPr id="108" name="Google Shape;108;p1"/>
          <p:cNvSpPr txBox="1"/>
          <p:nvPr/>
        </p:nvSpPr>
        <p:spPr>
          <a:xfrm>
            <a:off x="1508760" y="23439120"/>
            <a:ext cx="129159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  <a:t>• Main finding(s)</a:t>
            </a:r>
            <a:b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  <a:t>• Scientific / technological relevance</a:t>
            </a:r>
            <a:b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  <a:t>• Current limitations</a:t>
            </a:r>
            <a:b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  <a:t>• Next steps</a:t>
            </a:r>
            <a:b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  <a:t>End with one clear take-home message.</a:t>
            </a:r>
            <a:endParaRPr/>
          </a:p>
        </p:txBody>
      </p:sp>
      <p:sp>
        <p:nvSpPr>
          <p:cNvPr id="109" name="Google Shape;109;p1"/>
          <p:cNvSpPr/>
          <p:nvPr/>
        </p:nvSpPr>
        <p:spPr>
          <a:xfrm>
            <a:off x="15430500" y="22570440"/>
            <a:ext cx="13738860" cy="5760720"/>
          </a:xfrm>
          <a:prstGeom prst="roundRect">
            <a:avLst>
              <a:gd fmla="val 16667" name="adj"/>
            </a:avLst>
          </a:prstGeom>
          <a:solidFill>
            <a:srgbClr val="FAF9FC"/>
          </a:solidFill>
          <a:ln cap="flat" cmpd="sng" w="9525">
            <a:solidFill>
              <a:srgbClr val="E6E1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15430500" y="22570440"/>
            <a:ext cx="13738860" cy="658368"/>
          </a:xfrm>
          <a:prstGeom prst="rect">
            <a:avLst/>
          </a:prstGeom>
          <a:solidFill>
            <a:srgbClr val="4B2A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15750540" y="22643591"/>
            <a:ext cx="300197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REFERENCES</a:t>
            </a:r>
            <a:endParaRPr/>
          </a:p>
        </p:txBody>
      </p:sp>
      <p:sp>
        <p:nvSpPr>
          <p:cNvPr id="112" name="Google Shape;112;p1"/>
          <p:cNvSpPr txBox="1"/>
          <p:nvPr/>
        </p:nvSpPr>
        <p:spPr>
          <a:xfrm>
            <a:off x="15841980" y="23439120"/>
            <a:ext cx="1291590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  <a:t>[1] Author et al., Title, Venue, Year.</a:t>
            </a:r>
            <a:b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  <a:t>[2] Author et al., Title, Venue, Year.</a:t>
            </a:r>
            <a:b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  <a:t>[3] Author et al., Title, Venue, Year.</a:t>
            </a:r>
            <a:b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  <a:t>Use only the references needed to understand the contribution.</a:t>
            </a:r>
            <a:endParaRPr/>
          </a:p>
        </p:txBody>
      </p:sp>
      <p:sp>
        <p:nvSpPr>
          <p:cNvPr id="113" name="Google Shape;113;p1"/>
          <p:cNvSpPr/>
          <p:nvPr/>
        </p:nvSpPr>
        <p:spPr>
          <a:xfrm>
            <a:off x="1097280" y="28925520"/>
            <a:ext cx="13738860" cy="5486400"/>
          </a:xfrm>
          <a:prstGeom prst="roundRect">
            <a:avLst>
              <a:gd fmla="val 16667" name="adj"/>
            </a:avLst>
          </a:prstGeom>
          <a:solidFill>
            <a:srgbClr val="FAF9FC"/>
          </a:solidFill>
          <a:ln cap="flat" cmpd="sng" w="9525">
            <a:solidFill>
              <a:srgbClr val="E6E1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1097280" y="28925520"/>
            <a:ext cx="13738860" cy="658368"/>
          </a:xfrm>
          <a:prstGeom prst="rect">
            <a:avLst/>
          </a:prstGeom>
          <a:solidFill>
            <a:srgbClr val="4B2A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1417319" y="28998671"/>
            <a:ext cx="602921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ACKNOWLEDGMENTS / FUNDING</a:t>
            </a:r>
            <a:endParaRPr/>
          </a:p>
        </p:txBody>
      </p:sp>
      <p:sp>
        <p:nvSpPr>
          <p:cNvPr id="116" name="Google Shape;116;p1"/>
          <p:cNvSpPr txBox="1"/>
          <p:nvPr/>
        </p:nvSpPr>
        <p:spPr>
          <a:xfrm>
            <a:off x="1508760" y="29794200"/>
            <a:ext cx="1291590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  <a:t>Funding agencies, laboratories, collaborators, datasets, computing resources, or institutional support.</a:t>
            </a:r>
            <a:b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  <a:t>Optional section.</a:t>
            </a:r>
            <a:endParaRPr/>
          </a:p>
        </p:txBody>
      </p:sp>
      <p:sp>
        <p:nvSpPr>
          <p:cNvPr id="117" name="Google Shape;117;p1"/>
          <p:cNvSpPr/>
          <p:nvPr/>
        </p:nvSpPr>
        <p:spPr>
          <a:xfrm>
            <a:off x="15430500" y="28925520"/>
            <a:ext cx="13738860" cy="5486400"/>
          </a:xfrm>
          <a:prstGeom prst="roundRect">
            <a:avLst>
              <a:gd fmla="val 16667" name="adj"/>
            </a:avLst>
          </a:prstGeom>
          <a:solidFill>
            <a:srgbClr val="FAF9FC"/>
          </a:solidFill>
          <a:ln cap="flat" cmpd="sng" w="9525">
            <a:solidFill>
              <a:srgbClr val="E6E1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15430500" y="28925520"/>
            <a:ext cx="13738860" cy="658368"/>
          </a:xfrm>
          <a:prstGeom prst="rect">
            <a:avLst/>
          </a:prstGeom>
          <a:solidFill>
            <a:srgbClr val="4B2A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15750540" y="28998671"/>
            <a:ext cx="584224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CONTINUE THE CONVERSATION</a:t>
            </a:r>
            <a:endParaRPr/>
          </a:p>
        </p:txBody>
      </p:sp>
      <p:sp>
        <p:nvSpPr>
          <p:cNvPr id="120" name="Google Shape;120;p1"/>
          <p:cNvSpPr txBox="1"/>
          <p:nvPr/>
        </p:nvSpPr>
        <p:spPr>
          <a:xfrm>
            <a:off x="15841980" y="29794200"/>
            <a:ext cx="1291590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  <a:t>Add a QR code linking to your paper, repository, project page, demo, or professional profile.</a:t>
            </a:r>
            <a:b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  <a:t>[ QR CODE ]</a:t>
            </a:r>
            <a:b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  <a:t>Contact: author@institution.edu</a:t>
            </a:r>
            <a:endParaRPr/>
          </a:p>
        </p:txBody>
      </p:sp>
      <p:sp>
        <p:nvSpPr>
          <p:cNvPr id="121" name="Google Shape;121;p1"/>
          <p:cNvSpPr/>
          <p:nvPr/>
        </p:nvSpPr>
        <p:spPr>
          <a:xfrm>
            <a:off x="1097280" y="40405050"/>
            <a:ext cx="28072080" cy="1800000"/>
          </a:xfrm>
          <a:prstGeom prst="roundRect">
            <a:avLst>
              <a:gd fmla="val 16667" name="adj"/>
            </a:avLst>
          </a:prstGeom>
          <a:solidFill>
            <a:srgbClr val="4B2A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BRING YOUR RESEARCH. SHARE YOUR IDEAS. JOIN THE CONVERSATION.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WAIMLAp 2026  •  November 18–20, 2026  •  Lima, Peru  •  waimlap.org</a:t>
            </a:r>
            <a:endParaRPr/>
          </a:p>
        </p:txBody>
      </p:sp>
      <p:sp>
        <p:nvSpPr>
          <p:cNvPr id="122" name="Google Shape;122;p1"/>
          <p:cNvSpPr txBox="1"/>
          <p:nvPr/>
        </p:nvSpPr>
        <p:spPr>
          <a:xfrm>
            <a:off x="7539702" y="5493877"/>
            <a:ext cx="151872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A0 PORTRAIT (841 × 1189 mm)  |  ENGLISH  |  TWO-COLUMN LAYUT  |  FINAL SUBMISSION: PDF  |  FILENAME: Poster_TitleOfWork.pdf</a:t>
            </a:r>
            <a:endParaRPr/>
          </a:p>
        </p:txBody>
      </p:sp>
      <p:pic>
        <p:nvPicPr>
          <p:cNvPr id="123" name="Google Shape;12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02786" y="329537"/>
            <a:ext cx="3952394" cy="1688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9239" y="730916"/>
            <a:ext cx="3386394" cy="1012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" title="DataMining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1950" y="14958963"/>
            <a:ext cx="10469488" cy="6478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