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2803750" cx="30275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jgYya/RwQ3Vq8ZMWnKL+1pxgDa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jp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0275784" cy="4500000"/>
          </a:xfrm>
          <a:prstGeom prst="rect">
            <a:avLst/>
          </a:prstGeom>
          <a:solidFill>
            <a:srgbClr val="4B2A82"/>
          </a:solidFill>
          <a:ln cap="flat" cmpd="sng" w="9525">
            <a:solidFill>
              <a:srgbClr val="4B2A8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154207" y="689700"/>
            <a:ext cx="19966798" cy="76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Workshop on Artificial Intelligence and Machine Learning 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401150" y="1885575"/>
            <a:ext cx="23472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Does self-supervised pretraining help detect deforestation in a new country? Transferring frozen DINOv3 vs. a supervised U-Net from Brazil to the Peruvian Amazon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672950" y="3261350"/>
            <a:ext cx="10929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Christian Carhuancho¹  •  Jorge Chamorro</a:t>
            </a: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¹</a:t>
            </a: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•  Jorge Fatama¹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¹Pontificia Universidad Catolica del Peru, Lima, Peru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097275" y="5385043"/>
            <a:ext cx="13738800" cy="687570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97280" y="5385031"/>
            <a:ext cx="13738800" cy="658500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417319" y="5458183"/>
            <a:ext cx="675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MOTIVATION &amp; RESEARCH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508760" y="6253710"/>
            <a:ext cx="129159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>
                <a:solidFill>
                  <a:srgbClr val="28282D"/>
                </a:solidFill>
              </a:rPr>
              <a:t>This research addresses the critical need for scalable Amazonian deforestation monitoring by overcoming the reliance on extensive local retraining data. Using Sentinel-2 satellite imagery, the study leverages the DINOv3 foundational vision model to train a detection system in Brazil and evaluate its cross-regional transferability in Peru via zero-shot and short fine-tuning techniques. Ultimately, this work demonstrates how advanced artificial intelligence models can generalize across geographical borders, enabling more rapid and practical deployment for environmental monitoring.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5430500" y="5385044"/>
            <a:ext cx="13738800" cy="687570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5430500" y="5385031"/>
            <a:ext cx="13738800" cy="658500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5750540" y="5458183"/>
            <a:ext cx="550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OBJECTIVES / CONTRIBUTION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5841980" y="6253710"/>
            <a:ext cx="129159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>
                <a:solidFill>
                  <a:srgbClr val="28282D"/>
                </a:solidFill>
              </a:rPr>
              <a:t>The primary objective of this study is to detect Amazonian deforestation across geographic borders by training a model on Sentinel-2 imagery from Brazil and evaluating its transferability to Peru using zero-shot and few-shot techniques. To achieve this, the approach extracts robust image features utilizing a frozen DINOv3 foundational vision model and efficiently trains a lightweight detection head on Brazilian reference data. Subsequently, the system assesses cross-domain performance and interpretability within the Peruvian target domain. The key contribution of this work lies in demonstrating that foundational vision models can successfully generalize across distinct ecological regions, offering a scalable, rapid-response tool for environmental monitoring that bypasses the traditional bottleneck of requiring extensive, region-specific annotated data.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101775" y="13470541"/>
            <a:ext cx="13738800" cy="868950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101794" y="13470541"/>
            <a:ext cx="13738800" cy="658500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421832" y="13543693"/>
            <a:ext cx="303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513273" y="14339221"/>
            <a:ext cx="1291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097280" y="40405050"/>
            <a:ext cx="28072080" cy="1800000"/>
          </a:xfrm>
          <a:prstGeom prst="roundRect">
            <a:avLst>
              <a:gd fmla="val 16667" name="adj"/>
            </a:avLst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BRING YOUR RESEARCH. SHARE YOUR IDEAS. JOIN THE CONVERSATION.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WAIMLAp 2026  •  November 18–20, 2026  •  Lima, Peru  •  waimlap.org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02786" y="329537"/>
            <a:ext cx="3952394" cy="1688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239" y="730916"/>
            <a:ext cx="3386394" cy="1012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 title="IMG-20261016-WA001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7325" y="15199191"/>
            <a:ext cx="12915900" cy="5489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15430525" y="13435641"/>
            <a:ext cx="13738800" cy="868950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15430525" y="13435641"/>
            <a:ext cx="13738800" cy="658500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5750565" y="13508793"/>
            <a:ext cx="452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RESULTS &amp; DISCUSSION</a:t>
            </a:r>
            <a:endParaRPr/>
          </a:p>
        </p:txBody>
      </p:sp>
      <p:pic>
        <p:nvPicPr>
          <p:cNvPr id="107" name="Google Shape;107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479201" y="14481591"/>
            <a:ext cx="11946248" cy="68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/>
          <p:nvPr/>
        </p:nvSpPr>
        <p:spPr>
          <a:xfrm>
            <a:off x="15430500" y="23101892"/>
            <a:ext cx="13738800" cy="548940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5430500" y="23101886"/>
            <a:ext cx="13738800" cy="658500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5750540" y="23175037"/>
            <a:ext cx="584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CONTINUE THE CONVERSATION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15841980" y="23970566"/>
            <a:ext cx="1291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8282D"/>
                </a:solidFill>
                <a:latin typeface="Arial"/>
                <a:ea typeface="Arial"/>
                <a:cs typeface="Arial"/>
                <a:sym typeface="Arial"/>
              </a:rPr>
              <a:t>Contact: </a:t>
            </a:r>
            <a:r>
              <a:rPr lang="en-US" sz="2400">
                <a:solidFill>
                  <a:srgbClr val="28282D"/>
                </a:solidFill>
              </a:rPr>
              <a:t>a20172665@pucp.edu.pe</a:t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1005880" y="23125336"/>
            <a:ext cx="13738800" cy="5486400"/>
          </a:xfrm>
          <a:prstGeom prst="roundRect">
            <a:avLst>
              <a:gd fmla="val 16667" name="adj"/>
            </a:avLst>
          </a:prstGeom>
          <a:solidFill>
            <a:srgbClr val="FAF9FC"/>
          </a:solidFill>
          <a:ln cap="flat" cmpd="sng" w="9525">
            <a:solidFill>
              <a:srgbClr val="E6E1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1005880" y="23125336"/>
            <a:ext cx="13738800" cy="658500"/>
          </a:xfrm>
          <a:prstGeom prst="rect">
            <a:avLst/>
          </a:prstGeom>
          <a:solidFill>
            <a:srgbClr val="4B2A8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1325919" y="23198487"/>
            <a:ext cx="602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ACKNOWLEDGMENTS / FUNDING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1417360" y="23994016"/>
            <a:ext cx="1291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8282D"/>
                </a:solidFill>
              </a:rPr>
              <a:t>Thanks to Meta for providing the most calibrated model of DINOv3.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